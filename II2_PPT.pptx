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920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6" name="Text 4"/>
          <p:cNvSpPr/>
          <p:nvPr/>
        </p:nvSpPr>
        <p:spPr>
          <a:xfrm>
            <a:off x="457200" y="1444752"/>
            <a:ext cx="8229600" cy="347472"/>
          </a:xfrm>
          <a:prstGeom prst="rect">
            <a:avLst/>
          </a:prstGeom>
          <a:noFill/>
          <a:ln/>
        </p:spPr>
        <p:txBody>
          <a:bodyPr wrap="square" rtlCol="0" anchor="ctr"/>
          <a:lstStyle/>
          <a:p>
            <a:pPr marL="0" indent="0" algn="ctr">
              <a:buNone/>
            </a:pPr>
            <a:r>
              <a:rPr lang="en-US" sz="1800" b="1" dirty="0">
                <a:solidFill>
                  <a:srgbClr val="1F3864"/>
                </a:solidFill>
                <a:latin typeface="Calibri" pitchFamily="34" charset="0"/>
                <a:ea typeface="Calibri" pitchFamily="34" charset="-122"/>
                <a:cs typeface="Calibri" pitchFamily="34" charset="-120"/>
              </a:rPr>
              <a:t>In-House Internship – Cornerstone Project</a:t>
            </a:r>
            <a:endParaRPr lang="en-US" sz="1800" dirty="0"/>
          </a:p>
        </p:txBody>
      </p:sp>
      <p:sp>
        <p:nvSpPr>
          <p:cNvPr id="7" name="Text 5"/>
          <p:cNvSpPr/>
          <p:nvPr/>
        </p:nvSpPr>
        <p:spPr>
          <a:xfrm>
            <a:off x="457200" y="1792224"/>
            <a:ext cx="8229600" cy="310896"/>
          </a:xfrm>
          <a:prstGeom prst="rect">
            <a:avLst/>
          </a:prstGeom>
          <a:noFill/>
          <a:ln/>
        </p:spPr>
        <p:txBody>
          <a:bodyPr wrap="square" rtlCol="0" anchor="ctr"/>
          <a:lstStyle/>
          <a:p>
            <a:pPr marL="0" indent="0" algn="ctr">
              <a:buNone/>
            </a:pPr>
            <a:r>
              <a:rPr lang="en-US" sz="1800" b="1" dirty="0">
                <a:solidFill>
                  <a:srgbClr val="1F3864"/>
                </a:solidFill>
                <a:latin typeface="Calibri" pitchFamily="34" charset="0"/>
                <a:ea typeface="Calibri" pitchFamily="34" charset="-122"/>
                <a:cs typeface="Calibri" pitchFamily="34" charset="-120"/>
              </a:rPr>
              <a:t>Final Review</a:t>
            </a:r>
            <a:endParaRPr lang="en-US" sz="1800" dirty="0"/>
          </a:p>
        </p:txBody>
      </p:sp>
      <p:sp>
        <p:nvSpPr>
          <p:cNvPr id="8" name="Text 6"/>
          <p:cNvSpPr/>
          <p:nvPr/>
        </p:nvSpPr>
        <p:spPr>
          <a:xfrm>
            <a:off x="457200" y="2212848"/>
            <a:ext cx="8229600" cy="475488"/>
          </a:xfrm>
          <a:prstGeom prst="rect">
            <a:avLst/>
          </a:prstGeom>
          <a:noFill/>
          <a:ln/>
        </p:spPr>
        <p:txBody>
          <a:bodyPr wrap="square" rtlCol="0" anchor="ctr"/>
          <a:lstStyle/>
          <a:p>
            <a:pPr marL="0" indent="0" algn="ctr">
              <a:buNone/>
            </a:pPr>
            <a:r>
              <a:rPr lang="en-US" sz="2400" b="1" dirty="0">
                <a:solidFill>
                  <a:srgbClr val="000000"/>
                </a:solidFill>
                <a:latin typeface="Calibri" pitchFamily="34" charset="0"/>
                <a:ea typeface="Calibri" pitchFamily="34" charset="-122"/>
                <a:cs typeface="Calibri" pitchFamily="34" charset="-120"/>
              </a:rPr>
              <a:t>In-House Internship Management System</a:t>
            </a:r>
            <a:endParaRPr lang="en-US" sz="2400" dirty="0"/>
          </a:p>
        </p:txBody>
      </p:sp>
      <p:sp>
        <p:nvSpPr>
          <p:cNvPr id="9" name="Text 7"/>
          <p:cNvSpPr/>
          <p:nvPr/>
        </p:nvSpPr>
        <p:spPr>
          <a:xfrm>
            <a:off x="457200" y="2816352"/>
            <a:ext cx="8229600" cy="310896"/>
          </a:xfrm>
          <a:prstGeom prst="rect">
            <a:avLst/>
          </a:prstGeom>
          <a:noFill/>
          <a:ln/>
        </p:spPr>
        <p:txBody>
          <a:bodyPr wrap="square" rtlCol="0" anchor="ctr"/>
          <a:lstStyle/>
          <a:p>
            <a:pPr marL="0" indent="0" algn="ctr">
              <a:buNone/>
            </a:pPr>
            <a:r>
              <a:rPr lang="en-US" sz="1600" b="1" dirty="0">
                <a:solidFill>
                  <a:srgbClr val="C00000"/>
                </a:solidFill>
                <a:latin typeface="Calibri" pitchFamily="34" charset="0"/>
                <a:ea typeface="Calibri" pitchFamily="34" charset="-122"/>
                <a:cs typeface="Calibri" pitchFamily="34" charset="-120"/>
              </a:rPr>
              <a:t>Presented by</a:t>
            </a:r>
            <a:endParaRPr lang="en-US" sz="1600" dirty="0"/>
          </a:p>
        </p:txBody>
      </p:sp>
      <p:sp>
        <p:nvSpPr>
          <p:cNvPr id="10" name="Text 8"/>
          <p:cNvSpPr/>
          <p:nvPr/>
        </p:nvSpPr>
        <p:spPr>
          <a:xfrm>
            <a:off x="457200" y="3069772"/>
            <a:ext cx="8229600" cy="1068542"/>
          </a:xfrm>
          <a:prstGeom prst="rect">
            <a:avLst/>
          </a:prstGeom>
          <a:noFill/>
          <a:ln/>
        </p:spPr>
        <p:txBody>
          <a:bodyPr wrap="square" rtlCol="0" anchor="ctr"/>
          <a:lstStyle/>
          <a:p>
            <a:pPr algn="ctr">
              <a:defRPr sz="1000" b="0" i="0" u="none" strike="noStrike" kern="1" cap="none" spc="0" baseline="0">
                <a:solidFill>
                  <a:srgbClr val="000000"/>
                </a:solidFill>
                <a:uFill>
                  <a:solidFill>
                    <a:srgbClr val="000000"/>
                  </a:solidFill>
                </a:uFill>
                <a:latin typeface="Times New Roman" pitchFamily="1" charset="0"/>
                <a:ea typeface="Times New Roman" pitchFamily="1" charset="0"/>
                <a:cs typeface="Times New Roman" pitchFamily="1" charset="0"/>
              </a:defRPr>
            </a:pPr>
            <a:r>
              <a:rPr lang="en-IN" sz="1400" b="1" dirty="0"/>
              <a:t>B L V Surya Prakash	     (25B21CS066)</a:t>
            </a:r>
          </a:p>
          <a:p>
            <a:pPr algn="ctr">
              <a:defRPr sz="1400" b="1" i="0" u="none" strike="noStrike" kern="1" cap="none" spc="0" baseline="0">
                <a:solidFill>
                  <a:srgbClr val="000000"/>
                </a:solidFill>
                <a:uFill>
                  <a:solidFill>
                    <a:srgbClr val="000000"/>
                  </a:solidFill>
                </a:uFill>
                <a:latin typeface="Times New Roman" pitchFamily="1" charset="0"/>
                <a:ea typeface="Times New Roman" pitchFamily="1" charset="0"/>
                <a:cs typeface="Times New Roman" pitchFamily="1" charset="0"/>
              </a:defRPr>
            </a:pPr>
            <a:r>
              <a:rPr lang="en-IN" sz="1400" dirty="0"/>
              <a:t>T Naga Sai Charan	     (25B21CS070)</a:t>
            </a:r>
          </a:p>
          <a:p>
            <a:pPr algn="ctr">
              <a:defRPr sz="1400" b="1" i="0" u="none" strike="noStrike" kern="1" cap="none" spc="0" baseline="0">
                <a:solidFill>
                  <a:srgbClr val="000000"/>
                </a:solidFill>
                <a:uFill>
                  <a:solidFill>
                    <a:srgbClr val="000000"/>
                  </a:solidFill>
                </a:uFill>
                <a:latin typeface="Times New Roman" pitchFamily="1" charset="0"/>
                <a:ea typeface="Times New Roman" pitchFamily="1" charset="0"/>
                <a:cs typeface="Times New Roman" pitchFamily="1" charset="0"/>
              </a:defRPr>
            </a:pPr>
            <a:r>
              <a:rPr lang="en-IN" sz="1400" dirty="0"/>
              <a:t>Tanatswa Hilary Gendere  (24B11CS529)</a:t>
            </a:r>
          </a:p>
          <a:p>
            <a:pPr algn="ctr">
              <a:defRPr sz="1400" b="1" i="0" u="none" strike="noStrike" kern="1" cap="none" spc="0" baseline="0">
                <a:solidFill>
                  <a:srgbClr val="000000"/>
                </a:solidFill>
                <a:uFill>
                  <a:solidFill>
                    <a:srgbClr val="000000"/>
                  </a:solidFill>
                </a:uFill>
                <a:latin typeface="Times New Roman" pitchFamily="1" charset="0"/>
                <a:ea typeface="Times New Roman" pitchFamily="1" charset="0"/>
                <a:cs typeface="Times New Roman" pitchFamily="1" charset="0"/>
              </a:defRPr>
            </a:pPr>
            <a:r>
              <a:rPr lang="en-IN" sz="1400" dirty="0"/>
              <a:t>Blessed Zambezi	     (24B11CS537)</a:t>
            </a:r>
          </a:p>
        </p:txBody>
      </p:sp>
      <p:sp>
        <p:nvSpPr>
          <p:cNvPr id="12" name="Text 10"/>
          <p:cNvSpPr/>
          <p:nvPr/>
        </p:nvSpPr>
        <p:spPr>
          <a:xfrm>
            <a:off x="457200" y="4309109"/>
            <a:ext cx="8229600" cy="329184"/>
          </a:xfrm>
          <a:prstGeom prst="rect">
            <a:avLst/>
          </a:prstGeom>
          <a:noFill/>
          <a:ln/>
        </p:spPr>
        <p:txBody>
          <a:bodyPr wrap="square" rtlCol="0" anchor="ctr"/>
          <a:lstStyle/>
          <a:p>
            <a:pPr marL="0" indent="0" algn="ctr">
              <a:buNone/>
            </a:pPr>
            <a:r>
              <a:rPr lang="en-US" sz="1600" b="1" dirty="0">
                <a:solidFill>
                  <a:srgbClr val="C00000"/>
                </a:solidFill>
                <a:latin typeface="Calibri" pitchFamily="34" charset="0"/>
                <a:ea typeface="Calibri" pitchFamily="34" charset="-122"/>
                <a:cs typeface="Calibri" pitchFamily="34" charset="-120"/>
              </a:rPr>
              <a:t>Department of Computer Science and Engineering</a:t>
            </a:r>
            <a:endParaRPr lang="en-US" sz="1600" dirty="0"/>
          </a:p>
        </p:txBody>
      </p:sp>
      <p:pic>
        <p:nvPicPr>
          <p:cNvPr id="13" name="object 2">
            <a:extLst>
              <a:ext uri="{FF2B5EF4-FFF2-40B4-BE49-F238E27FC236}">
                <a16:creationId xmlns:a16="http://schemas.microsoft.com/office/drawing/2014/main" id="{07B16758-7F29-E1DD-E392-1C0ABD4C0FCB}"/>
              </a:ext>
            </a:extLst>
          </p:cNvPr>
          <p:cNvPicPr>
            <a:picLocks/>
          </p:cNvPicPr>
          <p:nvPr/>
        </p:nvPicPr>
        <p:blipFill>
          <a:blip r:embed="rId3" cstate="print"/>
          <a:stretch>
            <a:fillRect/>
          </a:stretch>
        </p:blipFill>
        <p:spPr>
          <a:xfrm>
            <a:off x="2266545" y="505207"/>
            <a:ext cx="4610910" cy="6286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Presentation Outline</a:t>
            </a:r>
            <a:endParaRPr lang="en-US" sz="2000" dirty="0"/>
          </a:p>
        </p:txBody>
      </p:sp>
      <p:sp>
        <p:nvSpPr>
          <p:cNvPr id="8" name="Text 6"/>
          <p:cNvSpPr/>
          <p:nvPr/>
        </p:nvSpPr>
        <p:spPr>
          <a:xfrm>
            <a:off x="1371600" y="1005840"/>
            <a:ext cx="6400800" cy="3840480"/>
          </a:xfrm>
          <a:prstGeom prst="rect">
            <a:avLst/>
          </a:prstGeom>
          <a:noFill/>
          <a:ln/>
        </p:spPr>
        <p:txBody>
          <a:bodyPr wrap="square" rtlCol="0" anchor="t"/>
          <a:lstStyle/>
          <a:p>
            <a:pPr marL="0" indent="0">
              <a:spcAft>
                <a:spcPts val="1200"/>
              </a:spcAft>
              <a:buNone/>
            </a:pPr>
            <a:r>
              <a:rPr lang="en-US" sz="1800" dirty="0">
                <a:solidFill>
                  <a:srgbClr val="1F1F1F"/>
                </a:solidFill>
                <a:latin typeface="Calibri" pitchFamily="34" charset="0"/>
                <a:ea typeface="Calibri" pitchFamily="34" charset="-122"/>
                <a:cs typeface="Calibri" pitchFamily="34" charset="-120"/>
              </a:rPr>
              <a:t>1.  Abstract</a:t>
            </a:r>
            <a:endParaRPr lang="en-US" sz="1800" dirty="0"/>
          </a:p>
          <a:p>
            <a:pPr marL="0" indent="0">
              <a:spcAft>
                <a:spcPts val="1200"/>
              </a:spcAft>
              <a:buNone/>
            </a:pPr>
            <a:r>
              <a:rPr lang="en-US" sz="1800" dirty="0">
                <a:solidFill>
                  <a:srgbClr val="1F1F1F"/>
                </a:solidFill>
                <a:latin typeface="Calibri" pitchFamily="34" charset="0"/>
                <a:ea typeface="Calibri" pitchFamily="34" charset="-122"/>
                <a:cs typeface="Calibri" pitchFamily="34" charset="-120"/>
              </a:rPr>
              <a:t>2.  Introduction</a:t>
            </a:r>
            <a:endParaRPr lang="en-US" sz="1800" dirty="0"/>
          </a:p>
          <a:p>
            <a:pPr marL="0" indent="0">
              <a:spcAft>
                <a:spcPts val="1200"/>
              </a:spcAft>
              <a:buNone/>
            </a:pPr>
            <a:r>
              <a:rPr lang="en-US" sz="1800" dirty="0">
                <a:solidFill>
                  <a:srgbClr val="1F1F1F"/>
                </a:solidFill>
                <a:latin typeface="Calibri" pitchFamily="34" charset="0"/>
                <a:ea typeface="Calibri" pitchFamily="34" charset="-122"/>
                <a:cs typeface="Calibri" pitchFamily="34" charset="-120"/>
              </a:rPr>
              <a:t>3.  System Analysis</a:t>
            </a:r>
            <a:endParaRPr lang="en-US" sz="1800" dirty="0"/>
          </a:p>
          <a:p>
            <a:pPr marL="0" indent="0">
              <a:spcAft>
                <a:spcPts val="1200"/>
              </a:spcAft>
              <a:buNone/>
            </a:pPr>
            <a:r>
              <a:rPr lang="en-US" sz="1800" dirty="0">
                <a:solidFill>
                  <a:srgbClr val="1F1F1F"/>
                </a:solidFill>
                <a:latin typeface="Calibri" pitchFamily="34" charset="0"/>
                <a:ea typeface="Calibri" pitchFamily="34" charset="-122"/>
                <a:cs typeface="Calibri" pitchFamily="34" charset="-120"/>
              </a:rPr>
              <a:t>4.  Database Design</a:t>
            </a:r>
            <a:endParaRPr lang="en-US" sz="1800" dirty="0"/>
          </a:p>
          <a:p>
            <a:pPr marL="0" indent="0">
              <a:spcAft>
                <a:spcPts val="1200"/>
              </a:spcAft>
              <a:buNone/>
            </a:pPr>
            <a:r>
              <a:rPr lang="en-US" sz="1800" dirty="0">
                <a:solidFill>
                  <a:srgbClr val="1F1F1F"/>
                </a:solidFill>
                <a:latin typeface="Calibri" pitchFamily="34" charset="0"/>
                <a:ea typeface="Calibri" pitchFamily="34" charset="-122"/>
                <a:cs typeface="Calibri" pitchFamily="34" charset="-120"/>
              </a:rPr>
              <a:t>5.  System Design</a:t>
            </a:r>
            <a:endParaRPr lang="en-US" sz="1800" dirty="0"/>
          </a:p>
          <a:p>
            <a:pPr marL="0" indent="0">
              <a:spcAft>
                <a:spcPts val="1200"/>
              </a:spcAft>
              <a:buNone/>
            </a:pPr>
            <a:r>
              <a:rPr lang="en-US" sz="1800" dirty="0">
                <a:solidFill>
                  <a:srgbClr val="1F1F1F"/>
                </a:solidFill>
                <a:latin typeface="Calibri" pitchFamily="34" charset="0"/>
                <a:ea typeface="Calibri" pitchFamily="34" charset="-122"/>
                <a:cs typeface="Calibri" pitchFamily="34" charset="-120"/>
              </a:rPr>
              <a:t>6.  System Implementation</a:t>
            </a:r>
            <a:endParaRPr lang="en-US" sz="1800" dirty="0"/>
          </a:p>
          <a:p>
            <a:pPr marL="0" indent="0">
              <a:spcAft>
                <a:spcPts val="1200"/>
              </a:spcAft>
              <a:buNone/>
            </a:pPr>
            <a:r>
              <a:rPr lang="en-US" sz="1800" dirty="0">
                <a:solidFill>
                  <a:srgbClr val="1F1F1F"/>
                </a:solidFill>
                <a:latin typeface="Calibri" pitchFamily="34" charset="0"/>
                <a:ea typeface="Calibri" pitchFamily="34" charset="-122"/>
                <a:cs typeface="Calibri" pitchFamily="34" charset="-120"/>
              </a:rPr>
              <a:t>7.  Future Enhancements</a:t>
            </a:r>
            <a:endParaRPr lang="en-US" sz="1800" dirty="0"/>
          </a:p>
          <a:p>
            <a:pPr marL="0" indent="0">
              <a:spcAft>
                <a:spcPts val="1200"/>
              </a:spcAft>
              <a:buNone/>
            </a:pPr>
            <a:r>
              <a:rPr lang="en-US" sz="1800" dirty="0">
                <a:solidFill>
                  <a:srgbClr val="1F1F1F"/>
                </a:solidFill>
                <a:latin typeface="Calibri" pitchFamily="34" charset="0"/>
                <a:ea typeface="Calibri" pitchFamily="34" charset="-122"/>
                <a:cs typeface="Calibri" pitchFamily="34" charset="-120"/>
              </a:rPr>
              <a:t>8.  References</a:t>
            </a:r>
            <a:endParaRPr lang="en-US" sz="1800" dirty="0"/>
          </a:p>
          <a:p>
            <a:pPr marL="0" indent="0">
              <a:spcAft>
                <a:spcPts val="1200"/>
              </a:spcAft>
              <a:buNone/>
            </a:pPr>
            <a:r>
              <a:rPr lang="en-US" sz="1800" dirty="0">
                <a:solidFill>
                  <a:srgbClr val="1F1F1F"/>
                </a:solidFill>
                <a:latin typeface="Calibri" pitchFamily="34" charset="0"/>
                <a:ea typeface="Calibri" pitchFamily="34" charset="-122"/>
                <a:cs typeface="Calibri" pitchFamily="34" charset="-120"/>
              </a:rPr>
              <a:t>9.  Conclusion</a:t>
            </a:r>
            <a:endParaRPr lang="en-US" sz="1800" dirty="0"/>
          </a:p>
        </p:txBody>
      </p:sp>
      <p:pic>
        <p:nvPicPr>
          <p:cNvPr id="11" name="object 3">
            <a:extLst>
              <a:ext uri="{FF2B5EF4-FFF2-40B4-BE49-F238E27FC236}">
                <a16:creationId xmlns:a16="http://schemas.microsoft.com/office/drawing/2014/main" id="{48B6480B-AD33-ACD3-2875-971598533EFB}"/>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ABSTRACT</a:t>
            </a:r>
            <a:endParaRPr lang="en-US" sz="2000" dirty="0"/>
          </a:p>
        </p:txBody>
      </p:sp>
      <p:sp>
        <p:nvSpPr>
          <p:cNvPr id="8" name="Text 6"/>
          <p:cNvSpPr/>
          <p:nvPr/>
        </p:nvSpPr>
        <p:spPr>
          <a:xfrm>
            <a:off x="548640" y="987552"/>
            <a:ext cx="8046720" cy="3840480"/>
          </a:xfrm>
          <a:prstGeom prst="rect">
            <a:avLst/>
          </a:prstGeom>
          <a:noFill/>
          <a:ln/>
        </p:spPr>
        <p:txBody>
          <a:bodyPr wrap="square" rtlCol="0" anchor="t"/>
          <a:lstStyle/>
          <a:p>
            <a:pPr marL="342900" indent="-342900">
              <a:spcAft>
                <a:spcPts val="1400"/>
              </a:spcAft>
              <a:buSzPct val="100000"/>
              <a:buChar char="•"/>
            </a:pPr>
            <a:r>
              <a:rPr lang="en-US" sz="1600" dirty="0">
                <a:solidFill>
                  <a:srgbClr val="1F1F1F"/>
                </a:solidFill>
                <a:latin typeface="Calibri" pitchFamily="34" charset="0"/>
                <a:ea typeface="Calibri" pitchFamily="34" charset="-122"/>
                <a:cs typeface="Calibri" pitchFamily="34" charset="-120"/>
              </a:rPr>
              <a:t>The In-House Internship Management System (II2) is a full-stack web application designed to digitize and streamline the entire internship lifecycle within Aditya University.</a:t>
            </a:r>
            <a:endParaRPr lang="en-US" sz="1600" dirty="0"/>
          </a:p>
          <a:p>
            <a:pPr marL="342900" indent="-342900">
              <a:spcAft>
                <a:spcPts val="1400"/>
              </a:spcAft>
              <a:buSzPct val="100000"/>
              <a:buChar char="•"/>
            </a:pPr>
            <a:r>
              <a:rPr lang="en-US" sz="1600" dirty="0">
                <a:solidFill>
                  <a:srgbClr val="1F1F1F"/>
                </a:solidFill>
                <a:latin typeface="Calibri" pitchFamily="34" charset="0"/>
                <a:ea typeface="Calibri" pitchFamily="34" charset="-122"/>
                <a:cs typeface="Calibri" pitchFamily="34" charset="-120"/>
              </a:rPr>
              <a:t>The system provides functionalities such as student onboarding, project allocation, daily status tracking, task submissions, review management, and attendance monitoring — reducing manual effort and errors.</a:t>
            </a:r>
            <a:endParaRPr lang="en-US" sz="1600" dirty="0"/>
          </a:p>
          <a:p>
            <a:pPr marL="342900" indent="-342900">
              <a:spcAft>
                <a:spcPts val="1400"/>
              </a:spcAft>
              <a:buSzPct val="100000"/>
              <a:buChar char="•"/>
            </a:pPr>
            <a:r>
              <a:rPr lang="en-US" sz="1600" dirty="0">
                <a:solidFill>
                  <a:srgbClr val="1F1F1F"/>
                </a:solidFill>
                <a:latin typeface="Calibri" pitchFamily="34" charset="0"/>
                <a:ea typeface="Calibri" pitchFamily="34" charset="-122"/>
                <a:cs typeface="Calibri" pitchFamily="34" charset="-120"/>
              </a:rPr>
              <a:t>II2 aims to improve data accuracy, accessibility, and security by adopting a structured, role-based, and centralized approach with four roles: Admin, HOD, Faculty, and Student.</a:t>
            </a:r>
            <a:endParaRPr lang="en-US" sz="1600" dirty="0"/>
          </a:p>
          <a:p>
            <a:pPr marL="342900" indent="-342900">
              <a:spcAft>
                <a:spcPts val="1400"/>
              </a:spcAft>
              <a:buSzPct val="100000"/>
              <a:buChar char="•"/>
            </a:pPr>
            <a:r>
              <a:rPr lang="en-US" sz="1600" dirty="0">
                <a:solidFill>
                  <a:srgbClr val="1F1F1F"/>
                </a:solidFill>
                <a:latin typeface="Calibri" pitchFamily="34" charset="0"/>
                <a:ea typeface="Calibri" pitchFamily="34" charset="-122"/>
                <a:cs typeface="Calibri" pitchFamily="34" charset="-120"/>
              </a:rPr>
              <a:t>The application is developed using React (Vite) for the frontend, Node.js/Express for the backend, MongoDB for persistent data storage, and Docker for containerized deployment.</a:t>
            </a:r>
            <a:endParaRPr lang="en-US" sz="1600" dirty="0"/>
          </a:p>
        </p:txBody>
      </p:sp>
      <p:pic>
        <p:nvPicPr>
          <p:cNvPr id="9" name="object 3">
            <a:extLst>
              <a:ext uri="{FF2B5EF4-FFF2-40B4-BE49-F238E27FC236}">
                <a16:creationId xmlns:a16="http://schemas.microsoft.com/office/drawing/2014/main" id="{E68BB214-323D-4470-C805-D7D6DEDE8399}"/>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INTRODUCTION</a:t>
            </a:r>
            <a:endParaRPr lang="en-US" sz="2000" dirty="0"/>
          </a:p>
        </p:txBody>
      </p:sp>
      <p:sp>
        <p:nvSpPr>
          <p:cNvPr id="8" name="Text 6"/>
          <p:cNvSpPr/>
          <p:nvPr/>
        </p:nvSpPr>
        <p:spPr>
          <a:xfrm>
            <a:off x="548640" y="987552"/>
            <a:ext cx="8046720" cy="3840480"/>
          </a:xfrm>
          <a:prstGeom prst="rect">
            <a:avLst/>
          </a:prstGeom>
          <a:noFill/>
          <a:ln/>
        </p:spPr>
        <p:txBody>
          <a:bodyPr wrap="square" rtlCol="0" anchor="t"/>
          <a:lstStyle/>
          <a:p>
            <a:pPr marL="342900" indent="-342900">
              <a:spcAft>
                <a:spcPts val="1800"/>
              </a:spcAft>
              <a:buSzPct val="100000"/>
              <a:buChar char="•"/>
            </a:pPr>
            <a:r>
              <a:rPr lang="en-US" sz="1600" dirty="0">
                <a:solidFill>
                  <a:srgbClr val="1F1F1F"/>
                </a:solidFill>
                <a:latin typeface="Calibri" pitchFamily="34" charset="0"/>
                <a:ea typeface="Calibri" pitchFamily="34" charset="-122"/>
                <a:cs typeface="Calibri" pitchFamily="34" charset="-120"/>
              </a:rPr>
              <a:t>In any university, managing in-house internship programs across multiple departments is a critical and continuous task.</a:t>
            </a:r>
            <a:endParaRPr lang="en-US" sz="1600" dirty="0"/>
          </a:p>
          <a:p>
            <a:pPr marL="342900" indent="-342900">
              <a:spcAft>
                <a:spcPts val="1800"/>
              </a:spcAft>
              <a:buSzPct val="100000"/>
              <a:buChar char="•"/>
            </a:pPr>
            <a:r>
              <a:rPr lang="en-US" sz="1600" dirty="0">
                <a:solidFill>
                  <a:srgbClr val="1F1F1F"/>
                </a:solidFill>
                <a:latin typeface="Calibri" pitchFamily="34" charset="0"/>
                <a:ea typeface="Calibri" pitchFamily="34" charset="-122"/>
                <a:cs typeface="Calibri" pitchFamily="34" charset="-120"/>
              </a:rPr>
              <a:t>Traditional manual systems are time-consuming, error-prone, and difficult to scale as the number of students, projects, and departments grows.</a:t>
            </a:r>
            <a:endParaRPr lang="en-US" sz="1600" dirty="0"/>
          </a:p>
          <a:p>
            <a:pPr marL="342900" indent="-342900">
              <a:spcAft>
                <a:spcPts val="1800"/>
              </a:spcAft>
              <a:buSzPct val="100000"/>
              <a:buChar char="•"/>
            </a:pPr>
            <a:r>
              <a:rPr lang="en-US" sz="1600" dirty="0">
                <a:solidFill>
                  <a:srgbClr val="1F1F1F"/>
                </a:solidFill>
                <a:latin typeface="Calibri" pitchFamily="34" charset="0"/>
                <a:ea typeface="Calibri" pitchFamily="34" charset="-122"/>
                <a:cs typeface="Calibri" pitchFamily="34" charset="-120"/>
              </a:rPr>
              <a:t>An automated In-House Internship Management System simplifies the complete internship workflow and improves institutional efficiency.</a:t>
            </a:r>
            <a:endParaRPr lang="en-US" sz="1600" dirty="0"/>
          </a:p>
          <a:p>
            <a:pPr marL="342900" indent="-342900">
              <a:spcAft>
                <a:spcPts val="1800"/>
              </a:spcAft>
              <a:buSzPct val="100000"/>
              <a:buChar char="•"/>
            </a:pPr>
            <a:r>
              <a:rPr lang="en-US" sz="1600" dirty="0">
                <a:solidFill>
                  <a:srgbClr val="1F1F1F"/>
                </a:solidFill>
                <a:latin typeface="Calibri" pitchFamily="34" charset="0"/>
                <a:ea typeface="Calibri" pitchFamily="34" charset="-122"/>
                <a:cs typeface="Calibri" pitchFamily="34" charset="-120"/>
              </a:rPr>
              <a:t>This project focuses on developing a role-based web application for effective internship management covering Admin, HOD, Faculty, and Student workflows.</a:t>
            </a:r>
            <a:endParaRPr lang="en-US" sz="1600" dirty="0"/>
          </a:p>
        </p:txBody>
      </p:sp>
      <p:pic>
        <p:nvPicPr>
          <p:cNvPr id="9" name="object 3">
            <a:extLst>
              <a:ext uri="{FF2B5EF4-FFF2-40B4-BE49-F238E27FC236}">
                <a16:creationId xmlns:a16="http://schemas.microsoft.com/office/drawing/2014/main" id="{AFD6AF9D-6194-5978-7B19-B1F409422047}"/>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SYSTEM ANALYSIS</a:t>
            </a:r>
            <a:endParaRPr lang="en-US" sz="2000" dirty="0"/>
          </a:p>
        </p:txBody>
      </p:sp>
      <p:sp>
        <p:nvSpPr>
          <p:cNvPr id="8" name="Text 6"/>
          <p:cNvSpPr/>
          <p:nvPr/>
        </p:nvSpPr>
        <p:spPr>
          <a:xfrm>
            <a:off x="548640" y="987552"/>
            <a:ext cx="8046720" cy="320040"/>
          </a:xfrm>
          <a:prstGeom prst="rect">
            <a:avLst/>
          </a:prstGeom>
          <a:noFill/>
          <a:ln/>
        </p:spPr>
        <p:txBody>
          <a:bodyPr wrap="square" rtlCol="0" anchor="ctr"/>
          <a:lstStyle/>
          <a:p>
            <a:pPr marL="0" indent="0">
              <a:buNone/>
            </a:pPr>
            <a:r>
              <a:rPr lang="en-US" sz="1700" b="1" dirty="0">
                <a:solidFill>
                  <a:srgbClr val="1F1F1F"/>
                </a:solidFill>
                <a:latin typeface="Calibri" pitchFamily="34" charset="0"/>
                <a:ea typeface="Calibri" pitchFamily="34" charset="-122"/>
                <a:cs typeface="Calibri" pitchFamily="34" charset="-120"/>
              </a:rPr>
              <a:t>Functional Requirements:</a:t>
            </a:r>
            <a:endParaRPr lang="en-US" sz="1700" dirty="0"/>
          </a:p>
        </p:txBody>
      </p:sp>
      <p:sp>
        <p:nvSpPr>
          <p:cNvPr id="9" name="Text 7"/>
          <p:cNvSpPr/>
          <p:nvPr/>
        </p:nvSpPr>
        <p:spPr>
          <a:xfrm>
            <a:off x="548640" y="1371600"/>
            <a:ext cx="8046720" cy="3474720"/>
          </a:xfrm>
          <a:prstGeom prst="rect">
            <a:avLst/>
          </a:prstGeom>
          <a:noFill/>
          <a:ln/>
        </p:spPr>
        <p:txBody>
          <a:bodyPr wrap="square" rtlCol="0" anchor="t"/>
          <a:lstStyle/>
          <a:p>
            <a:pPr marL="342900" indent="-342900">
              <a:spcAft>
                <a:spcPts val="800"/>
              </a:spcAft>
              <a:buSzPct val="100000"/>
              <a:buChar char="•"/>
            </a:pPr>
            <a:r>
              <a:rPr lang="en-US" sz="1500" dirty="0">
                <a:solidFill>
                  <a:srgbClr val="1F1F1F"/>
                </a:solidFill>
                <a:latin typeface="Calibri" pitchFamily="34" charset="0"/>
                <a:ea typeface="Calibri" pitchFamily="34" charset="-122"/>
                <a:cs typeface="Calibri" pitchFamily="34" charset="-120"/>
              </a:rPr>
              <a:t>The system allows Admin to add departments, programs, faculty, HODs, and students with full profile details.</a:t>
            </a:r>
            <a:endParaRPr lang="en-US" sz="1500" dirty="0"/>
          </a:p>
          <a:p>
            <a:pPr marL="342900" indent="-342900">
              <a:spcAft>
                <a:spcPts val="800"/>
              </a:spcAft>
              <a:buSzPct val="100000"/>
              <a:buChar char="•"/>
            </a:pPr>
            <a:r>
              <a:rPr lang="en-US" sz="1500" dirty="0">
                <a:solidFill>
                  <a:srgbClr val="1F1F1F"/>
                </a:solidFill>
                <a:latin typeface="Calibri" pitchFamily="34" charset="0"/>
                <a:ea typeface="Calibri" pitchFamily="34" charset="-122"/>
                <a:cs typeface="Calibri" pitchFamily="34" charset="-120"/>
              </a:rPr>
              <a:t>It provides functionality to manage projects — create, assign to faculty/students, track status — and bulk import/export via Excel.</a:t>
            </a:r>
            <a:endParaRPr lang="en-US" sz="1500" dirty="0"/>
          </a:p>
          <a:p>
            <a:pPr marL="342900" indent="-342900">
              <a:spcAft>
                <a:spcPts val="800"/>
              </a:spcAft>
              <a:buSzPct val="100000"/>
              <a:buChar char="•"/>
            </a:pPr>
            <a:r>
              <a:rPr lang="en-US" sz="1500" dirty="0">
                <a:solidFill>
                  <a:srgbClr val="1F1F1F"/>
                </a:solidFill>
                <a:latin typeface="Calibri" pitchFamily="34" charset="0"/>
                <a:ea typeface="Calibri" pitchFamily="34" charset="-122"/>
                <a:cs typeface="Calibri" pitchFamily="34" charset="-120"/>
              </a:rPr>
              <a:t>Authorized Faculty users can mark attendance, assign tasks, review submissions, and track student daily status reports.</a:t>
            </a:r>
            <a:endParaRPr lang="en-US" sz="1500" dirty="0"/>
          </a:p>
          <a:p>
            <a:pPr marL="342900" indent="-342900">
              <a:spcAft>
                <a:spcPts val="800"/>
              </a:spcAft>
              <a:buSzPct val="100000"/>
              <a:buChar char="•"/>
            </a:pPr>
            <a:r>
              <a:rPr lang="en-US" sz="1500" dirty="0">
                <a:solidFill>
                  <a:srgbClr val="1F1F1F"/>
                </a:solidFill>
                <a:latin typeface="Calibri" pitchFamily="34" charset="0"/>
                <a:ea typeface="Calibri" pitchFamily="34" charset="-122"/>
                <a:cs typeface="Calibri" pitchFamily="34" charset="-120"/>
              </a:rPr>
              <a:t>The system supports HOD-level monitoring of all students and projects within their department.</a:t>
            </a:r>
            <a:endParaRPr lang="en-US" sz="1500" dirty="0"/>
          </a:p>
          <a:p>
            <a:pPr marL="342900" indent="-342900">
              <a:spcAft>
                <a:spcPts val="800"/>
              </a:spcAft>
              <a:buSzPct val="100000"/>
              <a:buChar char="•"/>
            </a:pPr>
            <a:r>
              <a:rPr lang="en-US" sz="1500" dirty="0">
                <a:solidFill>
                  <a:srgbClr val="1F1F1F"/>
                </a:solidFill>
                <a:latin typeface="Calibri" pitchFamily="34" charset="0"/>
                <a:ea typeface="Calibri" pitchFamily="34" charset="-122"/>
                <a:cs typeface="Calibri" pitchFamily="34" charset="-120"/>
              </a:rPr>
              <a:t>Students can view their assigned project, submit daily status updates, complete tasks, and track their own attendance and review history.</a:t>
            </a:r>
            <a:endParaRPr lang="en-US" sz="1500" dirty="0"/>
          </a:p>
          <a:p>
            <a:pPr marL="342900" indent="-342900">
              <a:spcAft>
                <a:spcPts val="800"/>
              </a:spcAft>
              <a:buSzPct val="100000"/>
              <a:buChar char="•"/>
            </a:pPr>
            <a:r>
              <a:rPr lang="en-US" sz="1500" dirty="0">
                <a:solidFill>
                  <a:srgbClr val="1F1F1F"/>
                </a:solidFill>
                <a:latin typeface="Calibri" pitchFamily="34" charset="0"/>
                <a:ea typeface="Calibri" pitchFamily="34" charset="-122"/>
                <a:cs typeface="Calibri" pitchFamily="34" charset="-120"/>
              </a:rPr>
              <a:t>The system supports searching and filtering students, projects, and tasks across all roles.</a:t>
            </a:r>
            <a:endParaRPr lang="en-US" sz="1500" dirty="0"/>
          </a:p>
        </p:txBody>
      </p:sp>
      <p:pic>
        <p:nvPicPr>
          <p:cNvPr id="10" name="object 3">
            <a:extLst>
              <a:ext uri="{FF2B5EF4-FFF2-40B4-BE49-F238E27FC236}">
                <a16:creationId xmlns:a16="http://schemas.microsoft.com/office/drawing/2014/main" id="{B0512A54-7797-6AD4-D049-5D297F53CF9D}"/>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SYSTEM ANALYSIS</a:t>
            </a:r>
            <a:endParaRPr lang="en-US" sz="2000" dirty="0"/>
          </a:p>
        </p:txBody>
      </p:sp>
      <p:sp>
        <p:nvSpPr>
          <p:cNvPr id="8" name="Text 6"/>
          <p:cNvSpPr/>
          <p:nvPr/>
        </p:nvSpPr>
        <p:spPr>
          <a:xfrm>
            <a:off x="548640" y="987552"/>
            <a:ext cx="3657600" cy="320040"/>
          </a:xfrm>
          <a:prstGeom prst="rect">
            <a:avLst/>
          </a:prstGeom>
          <a:noFill/>
          <a:ln/>
        </p:spPr>
        <p:txBody>
          <a:bodyPr wrap="square" rtlCol="0" anchor="ctr"/>
          <a:lstStyle/>
          <a:p>
            <a:pPr marL="0" indent="0">
              <a:buNone/>
            </a:pPr>
            <a:r>
              <a:rPr lang="en-US" sz="1700" b="1" dirty="0">
                <a:solidFill>
                  <a:srgbClr val="1F1F1F"/>
                </a:solidFill>
                <a:latin typeface="Calibri" pitchFamily="34" charset="0"/>
                <a:ea typeface="Calibri" pitchFamily="34" charset="-122"/>
                <a:cs typeface="Calibri" pitchFamily="34" charset="-120"/>
              </a:rPr>
              <a:t>Hardware Requirements</a:t>
            </a:r>
            <a:endParaRPr lang="en-US" sz="1700" dirty="0"/>
          </a:p>
        </p:txBody>
      </p:sp>
      <p:sp>
        <p:nvSpPr>
          <p:cNvPr id="9" name="Text 7"/>
          <p:cNvSpPr/>
          <p:nvPr/>
        </p:nvSpPr>
        <p:spPr>
          <a:xfrm>
            <a:off x="548640" y="1335024"/>
            <a:ext cx="3657600" cy="1719072"/>
          </a:xfrm>
          <a:prstGeom prst="rect">
            <a:avLst/>
          </a:prstGeom>
          <a:noFill/>
          <a:ln/>
        </p:spPr>
        <p:txBody>
          <a:bodyPr wrap="square" rtlCol="0" anchor="t"/>
          <a:lstStyle/>
          <a:p>
            <a:pPr marL="342900" indent="-342900">
              <a:spcAft>
                <a:spcPts val="600"/>
              </a:spcAft>
              <a:buSzPct val="100000"/>
              <a:buChar char="•"/>
            </a:pPr>
            <a:r>
              <a:rPr lang="en-US" sz="1500" dirty="0">
                <a:solidFill>
                  <a:srgbClr val="1F1F1F"/>
                </a:solidFill>
                <a:latin typeface="Calibri" pitchFamily="34" charset="0"/>
                <a:ea typeface="Calibri" pitchFamily="34" charset="-122"/>
                <a:cs typeface="Calibri" pitchFamily="34" charset="-120"/>
              </a:rPr>
              <a:t>Processor: Intel Core i5 or above</a:t>
            </a:r>
            <a:endParaRPr lang="en-US" sz="1500" dirty="0"/>
          </a:p>
          <a:p>
            <a:pPr marL="342900" indent="-342900">
              <a:spcAft>
                <a:spcPts val="600"/>
              </a:spcAft>
              <a:buSzPct val="100000"/>
              <a:buChar char="•"/>
            </a:pPr>
            <a:r>
              <a:rPr lang="en-US" sz="1500" dirty="0">
                <a:solidFill>
                  <a:srgbClr val="1F1F1F"/>
                </a:solidFill>
                <a:latin typeface="Calibri" pitchFamily="34" charset="0"/>
                <a:ea typeface="Calibri" pitchFamily="34" charset="-122"/>
                <a:cs typeface="Calibri" pitchFamily="34" charset="-120"/>
              </a:rPr>
              <a:t>RAM: Minimum 8 GB</a:t>
            </a:r>
            <a:endParaRPr lang="en-US" sz="1500" dirty="0"/>
          </a:p>
          <a:p>
            <a:pPr marL="342900" indent="-342900">
              <a:spcAft>
                <a:spcPts val="600"/>
              </a:spcAft>
              <a:buSzPct val="100000"/>
              <a:buChar char="•"/>
            </a:pPr>
            <a:r>
              <a:rPr lang="en-US" sz="1500" dirty="0">
                <a:solidFill>
                  <a:srgbClr val="1F1F1F"/>
                </a:solidFill>
                <a:latin typeface="Calibri" pitchFamily="34" charset="0"/>
                <a:ea typeface="Calibri" pitchFamily="34" charset="-122"/>
                <a:cs typeface="Calibri" pitchFamily="34" charset="-120"/>
              </a:rPr>
              <a:t>Storage: 20 GB free disk space</a:t>
            </a:r>
            <a:endParaRPr lang="en-US" sz="1500" dirty="0"/>
          </a:p>
          <a:p>
            <a:pPr marL="342900" indent="-342900">
              <a:spcAft>
                <a:spcPts val="600"/>
              </a:spcAft>
              <a:buSzPct val="100000"/>
              <a:buChar char="•"/>
            </a:pPr>
            <a:r>
              <a:rPr lang="en-US" sz="1500" dirty="0">
                <a:solidFill>
                  <a:srgbClr val="1F1F1F"/>
                </a:solidFill>
                <a:latin typeface="Calibri" pitchFamily="34" charset="0"/>
                <a:ea typeface="Calibri" pitchFamily="34" charset="-122"/>
                <a:cs typeface="Calibri" pitchFamily="34" charset="-120"/>
              </a:rPr>
              <a:t>Input Devices: Keyboard, Mouse</a:t>
            </a:r>
            <a:endParaRPr lang="en-US" sz="1500" dirty="0"/>
          </a:p>
          <a:p>
            <a:pPr marL="342900" indent="-342900">
              <a:spcAft>
                <a:spcPts val="600"/>
              </a:spcAft>
              <a:buSzPct val="100000"/>
              <a:buChar char="•"/>
            </a:pPr>
            <a:r>
              <a:rPr lang="en-US" sz="1500" dirty="0">
                <a:solidFill>
                  <a:srgbClr val="1F1F1F"/>
                </a:solidFill>
                <a:latin typeface="Calibri" pitchFamily="34" charset="0"/>
                <a:ea typeface="Calibri" pitchFamily="34" charset="-122"/>
                <a:cs typeface="Calibri" pitchFamily="34" charset="-120"/>
              </a:rPr>
              <a:t>Output Device: Monitor</a:t>
            </a:r>
            <a:endParaRPr lang="en-US" sz="1500" dirty="0"/>
          </a:p>
        </p:txBody>
      </p:sp>
      <p:sp>
        <p:nvSpPr>
          <p:cNvPr id="10" name="Text 8"/>
          <p:cNvSpPr/>
          <p:nvPr/>
        </p:nvSpPr>
        <p:spPr>
          <a:xfrm>
            <a:off x="548640" y="3054096"/>
            <a:ext cx="8046720" cy="320040"/>
          </a:xfrm>
          <a:prstGeom prst="rect">
            <a:avLst/>
          </a:prstGeom>
          <a:noFill/>
          <a:ln/>
        </p:spPr>
        <p:txBody>
          <a:bodyPr wrap="square" rtlCol="0" anchor="ctr"/>
          <a:lstStyle/>
          <a:p>
            <a:pPr marL="0" indent="0">
              <a:buNone/>
            </a:pPr>
            <a:r>
              <a:rPr lang="en-US" sz="1700" b="1" dirty="0">
                <a:solidFill>
                  <a:srgbClr val="1F1F1F"/>
                </a:solidFill>
                <a:latin typeface="Calibri" pitchFamily="34" charset="0"/>
                <a:ea typeface="Calibri" pitchFamily="34" charset="-122"/>
                <a:cs typeface="Calibri" pitchFamily="34" charset="-120"/>
              </a:rPr>
              <a:t>Software Requirements</a:t>
            </a:r>
            <a:endParaRPr lang="en-US" sz="1700" dirty="0"/>
          </a:p>
        </p:txBody>
      </p:sp>
      <p:sp>
        <p:nvSpPr>
          <p:cNvPr id="11" name="Text 9"/>
          <p:cNvSpPr/>
          <p:nvPr/>
        </p:nvSpPr>
        <p:spPr>
          <a:xfrm>
            <a:off x="548640" y="3401568"/>
            <a:ext cx="8046720" cy="1399032"/>
          </a:xfrm>
          <a:prstGeom prst="rect">
            <a:avLst/>
          </a:prstGeom>
          <a:noFill/>
          <a:ln/>
        </p:spPr>
        <p:txBody>
          <a:bodyPr wrap="square" rtlCol="0" anchor="t"/>
          <a:lstStyle/>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Operating System: Windows 10+ / Ubuntu 20.04+</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Runtime: Node.js v18+ (LTS)  |  Frontend: React 18 + Vite + MUI</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Backend: Express.js  |  Database: MongoDB (Mongoose ODM)</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Containerization: Docker &amp; Docker Compose  |  Web Server: Nginx</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CI/CD: Jenkins Pipeline  |  Version Control: Git / GitHub</a:t>
            </a:r>
            <a:endParaRPr lang="en-US" sz="1400" dirty="0"/>
          </a:p>
        </p:txBody>
      </p:sp>
      <p:pic>
        <p:nvPicPr>
          <p:cNvPr id="12" name="object 3">
            <a:extLst>
              <a:ext uri="{FF2B5EF4-FFF2-40B4-BE49-F238E27FC236}">
                <a16:creationId xmlns:a16="http://schemas.microsoft.com/office/drawing/2014/main" id="{64C498BD-07DF-B31E-9830-568002B65AC9}"/>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Database Design</a:t>
            </a:r>
            <a:endParaRPr lang="en-US" sz="2000" dirty="0"/>
          </a:p>
        </p:txBody>
      </p:sp>
      <p:sp>
        <p:nvSpPr>
          <p:cNvPr id="8" name="Text 6"/>
          <p:cNvSpPr/>
          <p:nvPr/>
        </p:nvSpPr>
        <p:spPr>
          <a:xfrm>
            <a:off x="548640" y="987552"/>
            <a:ext cx="8046720" cy="3840480"/>
          </a:xfrm>
          <a:prstGeom prst="rect">
            <a:avLst/>
          </a:prstGeom>
          <a:noFill/>
          <a:ln/>
        </p:spPr>
        <p:txBody>
          <a:bodyPr wrap="square" rtlCol="0" anchor="t"/>
          <a:lstStyle/>
          <a:p>
            <a:pPr marL="342900" indent="-342900">
              <a:spcAft>
                <a:spcPts val="1400"/>
              </a:spcAft>
              <a:buSzPct val="100000"/>
              <a:buChar char="•"/>
            </a:pPr>
            <a:r>
              <a:rPr lang="en-US" sz="1600" dirty="0">
                <a:solidFill>
                  <a:srgbClr val="1F1F1F"/>
                </a:solidFill>
                <a:latin typeface="Calibri" pitchFamily="34" charset="0"/>
                <a:ea typeface="Calibri" pitchFamily="34" charset="-122"/>
                <a:cs typeface="Calibri" pitchFamily="34" charset="-120"/>
              </a:rPr>
              <a:t>The system uses MongoDB — a NoSQL document database — to store all internship-related information efficiently via Mongoose ODM.</a:t>
            </a:r>
            <a:endParaRPr lang="en-US" sz="1600" dirty="0"/>
          </a:p>
          <a:p>
            <a:pPr marL="342900" indent="-342900">
              <a:spcAft>
                <a:spcPts val="1400"/>
              </a:spcAft>
              <a:buSzPct val="100000"/>
              <a:buChar char="•"/>
            </a:pPr>
            <a:r>
              <a:rPr lang="en-US" sz="1600" dirty="0">
                <a:solidFill>
                  <a:srgbClr val="1F1F1F"/>
                </a:solidFill>
                <a:latin typeface="Calibri" pitchFamily="34" charset="0"/>
                <a:ea typeface="Calibri" pitchFamily="34" charset="-122"/>
                <a:cs typeface="Calibri" pitchFamily="34" charset="-120"/>
              </a:rPr>
              <a:t>It consists of 10 core collections (models): User, Department, Program, Project, Task, TaskSubmission, Review, Attendance, DailyStatus, and Setting.</a:t>
            </a:r>
            <a:endParaRPr lang="en-US" sz="1600" dirty="0"/>
          </a:p>
          <a:p>
            <a:pPr marL="342900" indent="-342900">
              <a:spcAft>
                <a:spcPts val="1400"/>
              </a:spcAft>
              <a:buSzPct val="100000"/>
              <a:buChar char="•"/>
            </a:pPr>
            <a:r>
              <a:rPr lang="en-US" sz="1600" dirty="0">
                <a:solidFill>
                  <a:srgbClr val="1F1F1F"/>
                </a:solidFill>
                <a:latin typeface="Calibri" pitchFamily="34" charset="0"/>
                <a:ea typeface="Calibri" pitchFamily="34" charset="-122"/>
                <a:cs typeface="Calibri" pitchFamily="34" charset="-120"/>
              </a:rPr>
              <a:t>The design helps in reducing data redundancy and improving data organization through document-based references.</a:t>
            </a:r>
            <a:endParaRPr lang="en-US" sz="1600" dirty="0"/>
          </a:p>
          <a:p>
            <a:pPr marL="342900" indent="-342900">
              <a:spcAft>
                <a:spcPts val="1400"/>
              </a:spcAft>
              <a:buSzPct val="100000"/>
              <a:buChar char="•"/>
            </a:pPr>
            <a:r>
              <a:rPr lang="en-US" sz="1600" dirty="0">
                <a:solidFill>
                  <a:srgbClr val="1F1F1F"/>
                </a:solidFill>
                <a:latin typeface="Calibri" pitchFamily="34" charset="0"/>
                <a:ea typeface="Calibri" pitchFamily="34" charset="-122"/>
                <a:cs typeface="Calibri" pitchFamily="34" charset="-120"/>
              </a:rPr>
              <a:t>Each User is linked to a Department using an ObjectId reference, and each Project links to both Department and assigned User(s).</a:t>
            </a:r>
            <a:endParaRPr lang="en-US" sz="1600" dirty="0"/>
          </a:p>
          <a:p>
            <a:pPr marL="342900" indent="-342900">
              <a:spcAft>
                <a:spcPts val="1400"/>
              </a:spcAft>
              <a:buSzPct val="100000"/>
              <a:buChar char="•"/>
            </a:pPr>
            <a:r>
              <a:rPr lang="en-US" sz="1600" dirty="0">
                <a:solidFill>
                  <a:srgbClr val="1F1F1F"/>
                </a:solidFill>
                <a:latin typeface="Calibri" pitchFamily="34" charset="0"/>
                <a:ea typeface="Calibri" pitchFamily="34" charset="-122"/>
                <a:cs typeface="Calibri" pitchFamily="34" charset="-120"/>
              </a:rPr>
              <a:t>The database ensures data integrity using primary ObjectId keys, unique constraints (e.g. email), and enum validations on role and status fields.</a:t>
            </a:r>
            <a:endParaRPr lang="en-US" sz="1600" dirty="0"/>
          </a:p>
        </p:txBody>
      </p:sp>
      <p:pic>
        <p:nvPicPr>
          <p:cNvPr id="9" name="object 3">
            <a:extLst>
              <a:ext uri="{FF2B5EF4-FFF2-40B4-BE49-F238E27FC236}">
                <a16:creationId xmlns:a16="http://schemas.microsoft.com/office/drawing/2014/main" id="{8B016B11-D126-D128-E8CF-87B2E2BC06CB}"/>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Database Design</a:t>
            </a:r>
            <a:endParaRPr lang="en-US" sz="2000" dirty="0"/>
          </a:p>
        </p:txBody>
      </p:sp>
      <p:sp>
        <p:nvSpPr>
          <p:cNvPr id="8" name="Text 6"/>
          <p:cNvSpPr/>
          <p:nvPr/>
        </p:nvSpPr>
        <p:spPr>
          <a:xfrm>
            <a:off x="548640" y="960120"/>
            <a:ext cx="8046720" cy="310896"/>
          </a:xfrm>
          <a:prstGeom prst="rect">
            <a:avLst/>
          </a:prstGeom>
          <a:noFill/>
          <a:ln/>
        </p:spPr>
        <p:txBody>
          <a:bodyPr wrap="square" rtlCol="0" anchor="ctr"/>
          <a:lstStyle/>
          <a:p>
            <a:pPr marL="0" indent="0">
              <a:buNone/>
            </a:pPr>
            <a:r>
              <a:rPr lang="en-US" sz="1700" b="1" dirty="0">
                <a:solidFill>
                  <a:srgbClr val="1F1F1F"/>
                </a:solidFill>
                <a:latin typeface="Calibri" pitchFamily="34" charset="0"/>
                <a:ea typeface="Calibri" pitchFamily="34" charset="-122"/>
                <a:cs typeface="Calibri" pitchFamily="34" charset="-120"/>
              </a:rPr>
              <a:t>Database Tables:</a:t>
            </a:r>
            <a:endParaRPr lang="en-US" sz="1700" dirty="0"/>
          </a:p>
        </p:txBody>
      </p:sp>
      <p:sp>
        <p:nvSpPr>
          <p:cNvPr id="9" name="Text 7"/>
          <p:cNvSpPr/>
          <p:nvPr/>
        </p:nvSpPr>
        <p:spPr>
          <a:xfrm>
            <a:off x="548640" y="1316736"/>
            <a:ext cx="3200400" cy="27432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User Collection :</a:t>
            </a:r>
            <a:endParaRPr lang="en-US" sz="1500" dirty="0"/>
          </a:p>
        </p:txBody>
      </p:sp>
      <p:sp>
        <p:nvSpPr>
          <p:cNvPr id="10" name="Text 8"/>
          <p:cNvSpPr/>
          <p:nvPr/>
        </p:nvSpPr>
        <p:spPr>
          <a:xfrm>
            <a:off x="1698170" y="1335024"/>
            <a:ext cx="6257109" cy="237744"/>
          </a:xfrm>
          <a:prstGeom prst="rect">
            <a:avLst/>
          </a:prstGeom>
          <a:noFill/>
          <a:ln/>
        </p:spPr>
        <p:txBody>
          <a:bodyPr wrap="square" rtlCol="0" anchor="ctr"/>
          <a:lstStyle/>
          <a:p>
            <a:pPr marL="0" indent="0" algn="ctr">
              <a:buNone/>
            </a:pPr>
            <a:r>
              <a:rPr lang="en-US" sz="1300" dirty="0">
                <a:solidFill>
                  <a:srgbClr val="1F1F1F"/>
                </a:solidFill>
                <a:latin typeface="Calibri" pitchFamily="34" charset="0"/>
                <a:ea typeface="Calibri" pitchFamily="34" charset="-122"/>
                <a:cs typeface="Calibri" pitchFamily="34" charset="-120"/>
              </a:rPr>
              <a:t>Stores user credentials and profile for all four roles (Admin, HOD, Faculty, Student)</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015165695"/>
              </p:ext>
            </p:extLst>
          </p:nvPr>
        </p:nvGraphicFramePr>
        <p:xfrm>
          <a:off x="437606" y="1655064"/>
          <a:ext cx="8229600" cy="3404616"/>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47472">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Field Name</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Data Type</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_id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ObjectId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Primary Key</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Auto-generated MongoDB document 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name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String</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Full name of the user</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extLst>
                  <a:ext uri="{0D108BD9-81ED-4DB2-BD59-A6C34878D82A}">
                    <a16:rowId xmlns:a16="http://schemas.microsoft.com/office/drawing/2014/main" val="10002"/>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email</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String</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Unique, Required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University email (domain-restricted login)</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password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String</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Bcrypt-hashed password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extLst>
                  <a:ext uri="{0D108BD9-81ED-4DB2-BD59-A6C34878D82A}">
                    <a16:rowId xmlns:a16="http://schemas.microsoft.com/office/drawing/2014/main" val="10004"/>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role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String (enum)</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admin | hod | faculty | student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department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ObjectId → Dept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Foreign Ref</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References the Department collection</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extLst>
                  <a:ext uri="{0D108BD9-81ED-4DB2-BD59-A6C34878D82A}">
                    <a16:rowId xmlns:a16="http://schemas.microsoft.com/office/drawing/2014/main" val="10006"/>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isActive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Boolean</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Default: true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Account active / frozen status</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pic>
        <p:nvPicPr>
          <p:cNvPr id="12" name="object 3">
            <a:extLst>
              <a:ext uri="{FF2B5EF4-FFF2-40B4-BE49-F238E27FC236}">
                <a16:creationId xmlns:a16="http://schemas.microsoft.com/office/drawing/2014/main" id="{909830A5-5BC3-EB35-0569-49C9EFA509CE}"/>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Database Design</a:t>
            </a:r>
            <a:endParaRPr lang="en-US" sz="2000" dirty="0"/>
          </a:p>
        </p:txBody>
      </p:sp>
      <p:sp>
        <p:nvSpPr>
          <p:cNvPr id="8" name="Text 6"/>
          <p:cNvSpPr/>
          <p:nvPr/>
        </p:nvSpPr>
        <p:spPr>
          <a:xfrm>
            <a:off x="548640" y="960120"/>
            <a:ext cx="8046720" cy="310896"/>
          </a:xfrm>
          <a:prstGeom prst="rect">
            <a:avLst/>
          </a:prstGeom>
          <a:noFill/>
          <a:ln/>
        </p:spPr>
        <p:txBody>
          <a:bodyPr wrap="square" rtlCol="0" anchor="ctr"/>
          <a:lstStyle/>
          <a:p>
            <a:pPr marL="0" indent="0">
              <a:buNone/>
            </a:pPr>
            <a:r>
              <a:rPr lang="en-US" sz="1700" b="1" dirty="0">
                <a:solidFill>
                  <a:srgbClr val="1F1F1F"/>
                </a:solidFill>
                <a:latin typeface="Calibri" pitchFamily="34" charset="0"/>
                <a:ea typeface="Calibri" pitchFamily="34" charset="-122"/>
                <a:cs typeface="Calibri" pitchFamily="34" charset="-120"/>
              </a:rPr>
              <a:t>Database Tables:</a:t>
            </a:r>
            <a:endParaRPr lang="en-US" sz="1700" dirty="0"/>
          </a:p>
        </p:txBody>
      </p:sp>
      <p:sp>
        <p:nvSpPr>
          <p:cNvPr id="9" name="Text 7"/>
          <p:cNvSpPr/>
          <p:nvPr/>
        </p:nvSpPr>
        <p:spPr>
          <a:xfrm>
            <a:off x="548640" y="1316736"/>
            <a:ext cx="3657600" cy="27432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Department Collection :</a:t>
            </a:r>
            <a:endParaRPr lang="en-US" sz="1500" dirty="0"/>
          </a:p>
        </p:txBody>
      </p:sp>
      <p:sp>
        <p:nvSpPr>
          <p:cNvPr id="10" name="Text 8"/>
          <p:cNvSpPr/>
          <p:nvPr/>
        </p:nvSpPr>
        <p:spPr>
          <a:xfrm>
            <a:off x="2286000" y="1335024"/>
            <a:ext cx="5649686" cy="237744"/>
          </a:xfrm>
          <a:prstGeom prst="rect">
            <a:avLst/>
          </a:prstGeom>
          <a:noFill/>
          <a:ln/>
        </p:spPr>
        <p:txBody>
          <a:bodyPr wrap="square" rtlCol="0" anchor="ctr"/>
          <a:lstStyle/>
          <a:p>
            <a:pPr marL="0" indent="0" algn="ctr">
              <a:buNone/>
            </a:pPr>
            <a:r>
              <a:rPr lang="en-US" sz="1300" dirty="0">
                <a:solidFill>
                  <a:srgbClr val="1F1F1F"/>
                </a:solidFill>
                <a:latin typeface="Calibri" pitchFamily="34" charset="0"/>
                <a:ea typeface="Calibri" pitchFamily="34" charset="-122"/>
                <a:cs typeface="Calibri" pitchFamily="34" charset="-120"/>
              </a:rPr>
              <a:t>Stores department details (CSE, IT, ECE, MBA, etc.) and links to HOD user</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3840503467"/>
              </p:ext>
            </p:extLst>
          </p:nvPr>
        </p:nvGraphicFramePr>
        <p:xfrm>
          <a:off x="457200" y="1931997"/>
          <a:ext cx="8229600" cy="2459736"/>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47472">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Field Name</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Data Type</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_id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ObjectId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Primary Key</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Auto-generated department 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name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String</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Department name (e.g. CSE, IT, ECE)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extLst>
                  <a:ext uri="{0D108BD9-81ED-4DB2-BD59-A6C34878D82A}">
                    <a16:rowId xmlns:a16="http://schemas.microsoft.com/office/drawing/2014/main" val="10002"/>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hod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ObjectId → User</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Foreign Ref</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References the HOD user</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emailDomain</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String</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Allowed email domain suffix for registration</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extLst>
                  <a:ext uri="{0D108BD9-81ED-4DB2-BD59-A6C34878D82A}">
                    <a16:rowId xmlns:a16="http://schemas.microsoft.com/office/drawing/2014/main" val="10004"/>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description</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String</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Department description</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12" name="object 3">
            <a:extLst>
              <a:ext uri="{FF2B5EF4-FFF2-40B4-BE49-F238E27FC236}">
                <a16:creationId xmlns:a16="http://schemas.microsoft.com/office/drawing/2014/main" id="{77599067-5D53-778F-F6F5-10EC3BB8B946}"/>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Database Design</a:t>
            </a:r>
            <a:endParaRPr lang="en-US" sz="2000" dirty="0"/>
          </a:p>
        </p:txBody>
      </p:sp>
      <p:sp>
        <p:nvSpPr>
          <p:cNvPr id="8" name="Text 6"/>
          <p:cNvSpPr/>
          <p:nvPr/>
        </p:nvSpPr>
        <p:spPr>
          <a:xfrm>
            <a:off x="548640" y="960120"/>
            <a:ext cx="8046720" cy="310896"/>
          </a:xfrm>
          <a:prstGeom prst="rect">
            <a:avLst/>
          </a:prstGeom>
          <a:noFill/>
          <a:ln/>
        </p:spPr>
        <p:txBody>
          <a:bodyPr wrap="square" rtlCol="0" anchor="ctr"/>
          <a:lstStyle/>
          <a:p>
            <a:pPr marL="0" indent="0">
              <a:buNone/>
            </a:pPr>
            <a:r>
              <a:rPr lang="en-US" sz="1700" b="1" dirty="0">
                <a:solidFill>
                  <a:srgbClr val="1F1F1F"/>
                </a:solidFill>
                <a:latin typeface="Calibri" pitchFamily="34" charset="0"/>
                <a:ea typeface="Calibri" pitchFamily="34" charset="-122"/>
                <a:cs typeface="Calibri" pitchFamily="34" charset="-120"/>
              </a:rPr>
              <a:t>Database Tables:</a:t>
            </a:r>
            <a:endParaRPr lang="en-US" sz="1700" dirty="0"/>
          </a:p>
        </p:txBody>
      </p:sp>
      <p:sp>
        <p:nvSpPr>
          <p:cNvPr id="9" name="Text 7"/>
          <p:cNvSpPr/>
          <p:nvPr/>
        </p:nvSpPr>
        <p:spPr>
          <a:xfrm>
            <a:off x="548640" y="1316736"/>
            <a:ext cx="3657600" cy="27432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Project Collection :</a:t>
            </a:r>
            <a:endParaRPr lang="en-US" sz="1500" dirty="0"/>
          </a:p>
        </p:txBody>
      </p:sp>
      <p:sp>
        <p:nvSpPr>
          <p:cNvPr id="10" name="Text 8"/>
          <p:cNvSpPr/>
          <p:nvPr/>
        </p:nvSpPr>
        <p:spPr>
          <a:xfrm>
            <a:off x="1838599" y="1335024"/>
            <a:ext cx="6198326" cy="237744"/>
          </a:xfrm>
          <a:prstGeom prst="rect">
            <a:avLst/>
          </a:prstGeom>
          <a:noFill/>
          <a:ln/>
        </p:spPr>
        <p:txBody>
          <a:bodyPr wrap="square" rtlCol="0" anchor="ctr"/>
          <a:lstStyle/>
          <a:p>
            <a:pPr marL="0" indent="0" algn="ctr">
              <a:buNone/>
            </a:pPr>
            <a:r>
              <a:rPr lang="en-US" sz="1300" dirty="0">
                <a:solidFill>
                  <a:srgbClr val="1F1F1F"/>
                </a:solidFill>
                <a:latin typeface="Calibri" pitchFamily="34" charset="0"/>
                <a:ea typeface="Calibri" pitchFamily="34" charset="-122"/>
                <a:cs typeface="Calibri" pitchFamily="34" charset="-120"/>
              </a:rPr>
              <a:t>Stores internship project details and links to Department, Faculty, and Students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847088"/>
          <a:ext cx="8229600" cy="315468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47472">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Field Name</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Data Type</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_id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ObjectId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Primary Key</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Auto-generated project 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title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String</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Project title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extLst>
                  <a:ext uri="{0D108BD9-81ED-4DB2-BD59-A6C34878D82A}">
                    <a16:rowId xmlns:a16="http://schemas.microsoft.com/office/drawing/2014/main" val="10002"/>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department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ObjectId → Dept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Foreign Ref</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Owning department reference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faculty</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ObjectId → User</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Foreign Ref</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Assigned faculty guide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extLst>
                  <a:ext uri="{0D108BD9-81ED-4DB2-BD59-A6C34878D82A}">
                    <a16:rowId xmlns:a16="http://schemas.microsoft.com/office/drawing/2014/main" val="10004"/>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students</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[ObjectId → User]</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Foreign Ref</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Enrolled students list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String (enum)</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active | completed | pending</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extLst>
                  <a:ext uri="{0D108BD9-81ED-4DB2-BD59-A6C34878D82A}">
                    <a16:rowId xmlns:a16="http://schemas.microsoft.com/office/drawing/2014/main" val="10006"/>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skills</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[String]</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Required skills for the project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pic>
        <p:nvPicPr>
          <p:cNvPr id="12" name="object 3">
            <a:extLst>
              <a:ext uri="{FF2B5EF4-FFF2-40B4-BE49-F238E27FC236}">
                <a16:creationId xmlns:a16="http://schemas.microsoft.com/office/drawing/2014/main" id="{0791BEFB-FE9F-6259-CE55-3AFAECE29C98}"/>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Database Design</a:t>
            </a:r>
            <a:endParaRPr lang="en-US" sz="2000" dirty="0"/>
          </a:p>
        </p:txBody>
      </p:sp>
      <p:sp>
        <p:nvSpPr>
          <p:cNvPr id="8" name="Text 6"/>
          <p:cNvSpPr/>
          <p:nvPr/>
        </p:nvSpPr>
        <p:spPr>
          <a:xfrm>
            <a:off x="548640" y="960120"/>
            <a:ext cx="8046720" cy="310896"/>
          </a:xfrm>
          <a:prstGeom prst="rect">
            <a:avLst/>
          </a:prstGeom>
          <a:noFill/>
          <a:ln/>
        </p:spPr>
        <p:txBody>
          <a:bodyPr wrap="square" rtlCol="0" anchor="ctr"/>
          <a:lstStyle/>
          <a:p>
            <a:pPr marL="0" indent="0">
              <a:buNone/>
            </a:pPr>
            <a:r>
              <a:rPr lang="en-US" sz="1700" b="1" dirty="0">
                <a:solidFill>
                  <a:srgbClr val="1F1F1F"/>
                </a:solidFill>
                <a:latin typeface="Calibri" pitchFamily="34" charset="0"/>
                <a:ea typeface="Calibri" pitchFamily="34" charset="-122"/>
                <a:cs typeface="Calibri" pitchFamily="34" charset="-120"/>
              </a:rPr>
              <a:t>Database Tables:</a:t>
            </a:r>
            <a:endParaRPr lang="en-US" sz="1700" dirty="0"/>
          </a:p>
        </p:txBody>
      </p:sp>
      <p:sp>
        <p:nvSpPr>
          <p:cNvPr id="9" name="Text 7"/>
          <p:cNvSpPr/>
          <p:nvPr/>
        </p:nvSpPr>
        <p:spPr>
          <a:xfrm>
            <a:off x="548640" y="1316736"/>
            <a:ext cx="4114800" cy="27432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Attendance Collection :</a:t>
            </a:r>
            <a:endParaRPr lang="en-US" sz="1500" dirty="0"/>
          </a:p>
        </p:txBody>
      </p:sp>
      <p:sp>
        <p:nvSpPr>
          <p:cNvPr id="10" name="Text 8"/>
          <p:cNvSpPr/>
          <p:nvPr/>
        </p:nvSpPr>
        <p:spPr>
          <a:xfrm>
            <a:off x="2375807" y="1344168"/>
            <a:ext cx="4392385" cy="219456"/>
          </a:xfrm>
          <a:prstGeom prst="rect">
            <a:avLst/>
          </a:prstGeom>
          <a:noFill/>
          <a:ln/>
        </p:spPr>
        <p:txBody>
          <a:bodyPr wrap="square" rtlCol="0" anchor="ctr"/>
          <a:lstStyle/>
          <a:p>
            <a:pPr marL="0" indent="0" algn="ctr">
              <a:buNone/>
            </a:pPr>
            <a:r>
              <a:rPr lang="en-US" sz="1300" dirty="0">
                <a:solidFill>
                  <a:srgbClr val="1F1F1F"/>
                </a:solidFill>
                <a:latin typeface="Calibri" pitchFamily="34" charset="0"/>
                <a:ea typeface="Calibri" pitchFamily="34" charset="-122"/>
                <a:cs typeface="Calibri" pitchFamily="34" charset="-120"/>
              </a:rPr>
              <a:t>Stores daily student attendance records marked by Faculty</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8229600" cy="2334768"/>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47472">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Field Name</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Data Type</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_id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ObjectId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Primary Key</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Auto-generated attendance ID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student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ObjectId → User</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Foreign Ref</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Student being marked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extLst>
                  <a:ext uri="{0D108BD9-81ED-4DB2-BD59-A6C34878D82A}">
                    <a16:rowId xmlns:a16="http://schemas.microsoft.com/office/drawing/2014/main" val="10002"/>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Attendance date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String (enum)</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present | absent | late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6F1"/>
                    </a:solidFill>
                  </a:tcPr>
                </a:tc>
                <a:extLst>
                  <a:ext uri="{0D108BD9-81ED-4DB2-BD59-A6C34878D82A}">
                    <a16:rowId xmlns:a16="http://schemas.microsoft.com/office/drawing/2014/main" val="10004"/>
                  </a:ext>
                </a:extLst>
              </a:tr>
              <a:tr h="347472">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markedBy</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ObjectId → User</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Foreign Ref</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1F1F"/>
                          </a:solidFill>
                          <a:latin typeface="Calibri" pitchFamily="34" charset="0"/>
                          <a:ea typeface="Calibri" pitchFamily="34" charset="-122"/>
                          <a:cs typeface="Calibri" pitchFamily="34" charset="-120"/>
                        </a:rPr>
                        <a:t>Faculty who marked attendance</a:t>
                      </a:r>
                      <a:endParaRPr lang="en-US" sz="1250" dirty="0">
                        <a:latin typeface="Calibri" charset="0"/>
                        <a:ea typeface="Calibri" charset="0"/>
                        <a:cs typeface="Calibri"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11" name="object 3">
            <a:extLst>
              <a:ext uri="{FF2B5EF4-FFF2-40B4-BE49-F238E27FC236}">
                <a16:creationId xmlns:a16="http://schemas.microsoft.com/office/drawing/2014/main" id="{1517E3EF-72C3-119C-A5B4-5300A4CD4581}"/>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SYSTEM DESIGN</a:t>
            </a:r>
            <a:endParaRPr lang="en-US" sz="2000" dirty="0"/>
          </a:p>
        </p:txBody>
      </p:sp>
      <p:sp>
        <p:nvSpPr>
          <p:cNvPr id="8" name="Text 6"/>
          <p:cNvSpPr/>
          <p:nvPr/>
        </p:nvSpPr>
        <p:spPr>
          <a:xfrm>
            <a:off x="548640" y="987552"/>
            <a:ext cx="8046720" cy="320040"/>
          </a:xfrm>
          <a:prstGeom prst="rect">
            <a:avLst/>
          </a:prstGeom>
          <a:noFill/>
          <a:ln/>
        </p:spPr>
        <p:txBody>
          <a:bodyPr wrap="square" rtlCol="0" anchor="ctr"/>
          <a:lstStyle/>
          <a:p>
            <a:pPr marL="0" indent="0">
              <a:buNone/>
            </a:pPr>
            <a:r>
              <a:rPr lang="en-US" sz="1700" b="1" dirty="0">
                <a:solidFill>
                  <a:srgbClr val="1F1F1F"/>
                </a:solidFill>
                <a:latin typeface="Calibri" pitchFamily="34" charset="0"/>
                <a:ea typeface="Calibri" pitchFamily="34" charset="-122"/>
                <a:cs typeface="Calibri" pitchFamily="34" charset="-120"/>
              </a:rPr>
              <a:t>Modules:</a:t>
            </a:r>
            <a:endParaRPr lang="en-US" sz="1700" dirty="0"/>
          </a:p>
        </p:txBody>
      </p:sp>
      <p:sp>
        <p:nvSpPr>
          <p:cNvPr id="9" name="Text 7"/>
          <p:cNvSpPr/>
          <p:nvPr/>
        </p:nvSpPr>
        <p:spPr>
          <a:xfrm>
            <a:off x="548640" y="1371600"/>
            <a:ext cx="8046720" cy="54864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Auth Module: </a:t>
            </a:r>
            <a:r>
              <a:rPr lang="en-US" sz="1350" dirty="0">
                <a:solidFill>
                  <a:srgbClr val="1F1F1F"/>
                </a:solidFill>
                <a:latin typeface="Calibri" pitchFamily="34" charset="0"/>
                <a:ea typeface="Calibri" pitchFamily="34" charset="-122"/>
                <a:cs typeface="Calibri" pitchFamily="34" charset="-120"/>
              </a:rPr>
              <a:t>Handles login, OTP-based password recovery, JWT token issuance, email domain restriction, and role-based access guards.</a:t>
            </a:r>
            <a:endParaRPr lang="en-US" sz="1500" dirty="0"/>
          </a:p>
        </p:txBody>
      </p:sp>
      <p:sp>
        <p:nvSpPr>
          <p:cNvPr id="10" name="Text 8"/>
          <p:cNvSpPr/>
          <p:nvPr/>
        </p:nvSpPr>
        <p:spPr>
          <a:xfrm>
            <a:off x="548640" y="1956816"/>
            <a:ext cx="8046720" cy="54864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Admin Module: </a:t>
            </a:r>
            <a:r>
              <a:rPr lang="en-US" sz="1350" dirty="0">
                <a:solidFill>
                  <a:srgbClr val="1F1F1F"/>
                </a:solidFill>
                <a:latin typeface="Calibri" pitchFamily="34" charset="0"/>
                <a:ea typeface="Calibri" pitchFamily="34" charset="-122"/>
                <a:cs typeface="Calibri" pitchFamily="34" charset="-120"/>
              </a:rPr>
              <a:t>Manages departments, programs, faculty, HODs, students, projects, tasks, reviews, attendance, analytics, bulk import/export, mail, and system settings.</a:t>
            </a:r>
            <a:endParaRPr lang="en-US" sz="1500" dirty="0"/>
          </a:p>
        </p:txBody>
      </p:sp>
      <p:sp>
        <p:nvSpPr>
          <p:cNvPr id="11" name="Text 9"/>
          <p:cNvSpPr/>
          <p:nvPr/>
        </p:nvSpPr>
        <p:spPr>
          <a:xfrm>
            <a:off x="548640" y="2542032"/>
            <a:ext cx="8046720" cy="54864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Faculty Module: </a:t>
            </a:r>
            <a:r>
              <a:rPr lang="en-US" sz="1350" dirty="0">
                <a:solidFill>
                  <a:srgbClr val="1F1F1F"/>
                </a:solidFill>
                <a:latin typeface="Calibri" pitchFamily="34" charset="0"/>
                <a:ea typeface="Calibri" pitchFamily="34" charset="-122"/>
                <a:cs typeface="Calibri" pitchFamily="34" charset="-120"/>
              </a:rPr>
              <a:t>Allows faculty to view assigned students, create and grade tasks, mark attendance, conduct reviews, and track daily status submissions.</a:t>
            </a:r>
            <a:endParaRPr lang="en-US" sz="1500" dirty="0"/>
          </a:p>
        </p:txBody>
      </p:sp>
      <p:sp>
        <p:nvSpPr>
          <p:cNvPr id="12" name="Text 10"/>
          <p:cNvSpPr/>
          <p:nvPr/>
        </p:nvSpPr>
        <p:spPr>
          <a:xfrm>
            <a:off x="548640" y="3127248"/>
            <a:ext cx="8046720" cy="54864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HOD Module: </a:t>
            </a:r>
            <a:r>
              <a:rPr lang="en-US" sz="1350" dirty="0">
                <a:solidFill>
                  <a:srgbClr val="1F1F1F"/>
                </a:solidFill>
                <a:latin typeface="Calibri" pitchFamily="34" charset="0"/>
                <a:ea typeface="Calibri" pitchFamily="34" charset="-122"/>
                <a:cs typeface="Calibri" pitchFamily="34" charset="-120"/>
              </a:rPr>
              <a:t>Provides department-level oversight of students, projects, tasks, and attendance with summary views and approval capabilities.</a:t>
            </a:r>
            <a:endParaRPr lang="en-US" sz="1500" dirty="0"/>
          </a:p>
        </p:txBody>
      </p:sp>
      <p:sp>
        <p:nvSpPr>
          <p:cNvPr id="13" name="Text 11"/>
          <p:cNvSpPr/>
          <p:nvPr/>
        </p:nvSpPr>
        <p:spPr>
          <a:xfrm>
            <a:off x="548640" y="3712464"/>
            <a:ext cx="8046720" cy="54864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Student Module: </a:t>
            </a:r>
            <a:r>
              <a:rPr lang="en-US" sz="1350" dirty="0">
                <a:solidFill>
                  <a:srgbClr val="1F1F1F"/>
                </a:solidFill>
                <a:latin typeface="Calibri" pitchFamily="34" charset="0"/>
                <a:ea typeface="Calibri" pitchFamily="34" charset="-122"/>
                <a:cs typeface="Calibri" pitchFamily="34" charset="-120"/>
              </a:rPr>
              <a:t>Enables students to view their project, submit daily status, complete tasks, attend reviews, and track their attendance and profile.</a:t>
            </a:r>
            <a:endParaRPr lang="en-US" sz="1500" dirty="0"/>
          </a:p>
        </p:txBody>
      </p:sp>
      <p:sp>
        <p:nvSpPr>
          <p:cNvPr id="14" name="Text 12"/>
          <p:cNvSpPr/>
          <p:nvPr/>
        </p:nvSpPr>
        <p:spPr>
          <a:xfrm>
            <a:off x="548640" y="4297680"/>
            <a:ext cx="8046720" cy="54864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Analytics &amp; Report Module: </a:t>
            </a:r>
            <a:r>
              <a:rPr lang="en-US" sz="1350" dirty="0">
                <a:solidFill>
                  <a:srgbClr val="1F1F1F"/>
                </a:solidFill>
                <a:latin typeface="Calibri" pitchFamily="34" charset="0"/>
                <a:ea typeface="Calibri" pitchFamily="34" charset="-122"/>
                <a:cs typeface="Calibri" pitchFamily="34" charset="-120"/>
              </a:rPr>
              <a:t>Generates internship health dashboards, department-wise statistics, task completion rates, and attendance summaries for Admin review.</a:t>
            </a:r>
            <a:endParaRPr lang="en-US" sz="1500" dirty="0"/>
          </a:p>
        </p:txBody>
      </p:sp>
      <p:pic>
        <p:nvPicPr>
          <p:cNvPr id="15" name="object 3">
            <a:extLst>
              <a:ext uri="{FF2B5EF4-FFF2-40B4-BE49-F238E27FC236}">
                <a16:creationId xmlns:a16="http://schemas.microsoft.com/office/drawing/2014/main" id="{C2C249C3-804E-3169-BA5A-7FAE8B3136CD}"/>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System Implementation</a:t>
            </a:r>
            <a:endParaRPr lang="en-US" sz="2000" dirty="0"/>
          </a:p>
        </p:txBody>
      </p:sp>
      <p:sp>
        <p:nvSpPr>
          <p:cNvPr id="8" name="Text 6"/>
          <p:cNvSpPr/>
          <p:nvPr/>
        </p:nvSpPr>
        <p:spPr>
          <a:xfrm>
            <a:off x="548640" y="969264"/>
            <a:ext cx="7315200" cy="292608"/>
          </a:xfrm>
          <a:prstGeom prst="rect">
            <a:avLst/>
          </a:prstGeom>
          <a:noFill/>
          <a:ln/>
        </p:spPr>
        <p:txBody>
          <a:bodyPr wrap="square" rtlCol="0" anchor="ctr"/>
          <a:lstStyle/>
          <a:p>
            <a:pPr marL="0" indent="0">
              <a:buNone/>
            </a:pPr>
            <a:r>
              <a:rPr lang="en-US" sz="1600" b="1" dirty="0">
                <a:solidFill>
                  <a:srgbClr val="1F1F1F"/>
                </a:solidFill>
                <a:latin typeface="Calibri" pitchFamily="34" charset="0"/>
                <a:ea typeface="Calibri" pitchFamily="34" charset="-122"/>
                <a:cs typeface="Calibri" pitchFamily="34" charset="-120"/>
              </a:rPr>
              <a:t>Login Window:</a:t>
            </a:r>
            <a:endParaRPr lang="en-US" sz="1600" dirty="0"/>
          </a:p>
        </p:txBody>
      </p:sp>
      <p:sp>
        <p:nvSpPr>
          <p:cNvPr id="9" name="Text 7"/>
          <p:cNvSpPr/>
          <p:nvPr/>
        </p:nvSpPr>
        <p:spPr>
          <a:xfrm>
            <a:off x="548640" y="1280160"/>
            <a:ext cx="8046720" cy="384048"/>
          </a:xfrm>
          <a:prstGeom prst="rect">
            <a:avLst/>
          </a:prstGeom>
          <a:noFill/>
          <a:ln/>
        </p:spPr>
        <p:txBody>
          <a:bodyPr wrap="square" rtlCol="0" anchor="ctr"/>
          <a:lstStyle/>
          <a:p>
            <a:pPr marL="0" indent="0">
              <a:buNone/>
            </a:pPr>
            <a:r>
              <a:rPr lang="en-US" sz="1450" dirty="0">
                <a:solidFill>
                  <a:srgbClr val="1F1F1F"/>
                </a:solidFill>
                <a:latin typeface="Calibri" pitchFamily="34" charset="0"/>
                <a:ea typeface="Calibri" pitchFamily="34" charset="-122"/>
                <a:cs typeface="Calibri" pitchFamily="34" charset="-120"/>
              </a:rPr>
              <a:t>This window allows authorized users to enter their email and password to access the In-House Internship Management System.</a:t>
            </a:r>
            <a:endParaRPr lang="en-US" sz="1450" dirty="0"/>
          </a:p>
        </p:txBody>
      </p:sp>
      <p:pic>
        <p:nvPicPr>
          <p:cNvPr id="23" name="object 3">
            <a:extLst>
              <a:ext uri="{FF2B5EF4-FFF2-40B4-BE49-F238E27FC236}">
                <a16:creationId xmlns:a16="http://schemas.microsoft.com/office/drawing/2014/main" id="{2C0A64DB-2E65-DB9A-B17B-513DCD78CC67}"/>
              </a:ext>
            </a:extLst>
          </p:cNvPr>
          <p:cNvPicPr>
            <a:picLocks/>
          </p:cNvPicPr>
          <p:nvPr/>
        </p:nvPicPr>
        <p:blipFill>
          <a:blip r:embed="rId3" cstate="print"/>
          <a:stretch>
            <a:fillRect/>
          </a:stretch>
        </p:blipFill>
        <p:spPr>
          <a:xfrm>
            <a:off x="290750" y="204311"/>
            <a:ext cx="1163002" cy="424338"/>
          </a:xfrm>
          <a:prstGeom prst="rect">
            <a:avLst/>
          </a:prstGeom>
        </p:spPr>
      </p:pic>
      <p:pic>
        <p:nvPicPr>
          <p:cNvPr id="25" name="Picture 24">
            <a:extLst>
              <a:ext uri="{FF2B5EF4-FFF2-40B4-BE49-F238E27FC236}">
                <a16:creationId xmlns:a16="http://schemas.microsoft.com/office/drawing/2014/main" id="{8ABFD089-23B8-261C-7286-144D18C6A4D6}"/>
              </a:ext>
            </a:extLst>
          </p:cNvPr>
          <p:cNvPicPr>
            <a:picLocks noChangeAspect="1"/>
          </p:cNvPicPr>
          <p:nvPr/>
        </p:nvPicPr>
        <p:blipFill>
          <a:blip r:embed="rId4"/>
          <a:stretch>
            <a:fillRect/>
          </a:stretch>
        </p:blipFill>
        <p:spPr>
          <a:xfrm>
            <a:off x="1424816" y="1767404"/>
            <a:ext cx="6294368" cy="31717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System Implementation</a:t>
            </a:r>
            <a:endParaRPr lang="en-US" sz="2000" dirty="0"/>
          </a:p>
        </p:txBody>
      </p:sp>
      <p:sp>
        <p:nvSpPr>
          <p:cNvPr id="8" name="Text 6"/>
          <p:cNvSpPr/>
          <p:nvPr/>
        </p:nvSpPr>
        <p:spPr>
          <a:xfrm>
            <a:off x="548640" y="969264"/>
            <a:ext cx="7315200" cy="292608"/>
          </a:xfrm>
          <a:prstGeom prst="rect">
            <a:avLst/>
          </a:prstGeom>
          <a:noFill/>
          <a:ln/>
        </p:spPr>
        <p:txBody>
          <a:bodyPr wrap="square" rtlCol="0" anchor="ctr"/>
          <a:lstStyle/>
          <a:p>
            <a:pPr marL="0" indent="0">
              <a:buNone/>
            </a:pPr>
            <a:r>
              <a:rPr lang="en-US" sz="1600" b="1" dirty="0">
                <a:solidFill>
                  <a:srgbClr val="1F1F1F"/>
                </a:solidFill>
                <a:latin typeface="Calibri" pitchFamily="34" charset="0"/>
                <a:ea typeface="Calibri" pitchFamily="34" charset="-122"/>
                <a:cs typeface="Calibri" pitchFamily="34" charset="-120"/>
              </a:rPr>
              <a:t>Admin Dashboard:</a:t>
            </a:r>
            <a:endParaRPr lang="en-US" sz="1600" dirty="0"/>
          </a:p>
        </p:txBody>
      </p:sp>
      <p:sp>
        <p:nvSpPr>
          <p:cNvPr id="9" name="Text 7"/>
          <p:cNvSpPr/>
          <p:nvPr/>
        </p:nvSpPr>
        <p:spPr>
          <a:xfrm>
            <a:off x="548640" y="1280160"/>
            <a:ext cx="8046720" cy="347472"/>
          </a:xfrm>
          <a:prstGeom prst="rect">
            <a:avLst/>
          </a:prstGeom>
          <a:noFill/>
          <a:ln/>
        </p:spPr>
        <p:txBody>
          <a:bodyPr wrap="square" rtlCol="0" anchor="ctr"/>
          <a:lstStyle/>
          <a:p>
            <a:pPr marL="0" indent="0">
              <a:buNone/>
            </a:pPr>
            <a:r>
              <a:rPr lang="en-US" sz="1450" dirty="0">
                <a:solidFill>
                  <a:srgbClr val="1F1F1F"/>
                </a:solidFill>
                <a:latin typeface="Calibri" pitchFamily="34" charset="0"/>
                <a:ea typeface="Calibri" pitchFamily="34" charset="-122"/>
                <a:cs typeface="Calibri" pitchFamily="34" charset="-120"/>
              </a:rPr>
              <a:t>After login, the Admin is presented with a navigation dashboard to perform all management operations.</a:t>
            </a:r>
            <a:endParaRPr lang="en-US" sz="1450" dirty="0"/>
          </a:p>
        </p:txBody>
      </p:sp>
      <p:pic>
        <p:nvPicPr>
          <p:cNvPr id="29" name="object 3">
            <a:extLst>
              <a:ext uri="{FF2B5EF4-FFF2-40B4-BE49-F238E27FC236}">
                <a16:creationId xmlns:a16="http://schemas.microsoft.com/office/drawing/2014/main" id="{88F5C10C-6ABA-EE41-7CD7-77AA67B68F2B}"/>
              </a:ext>
            </a:extLst>
          </p:cNvPr>
          <p:cNvPicPr>
            <a:picLocks/>
          </p:cNvPicPr>
          <p:nvPr/>
        </p:nvPicPr>
        <p:blipFill>
          <a:blip r:embed="rId3" cstate="print"/>
          <a:stretch>
            <a:fillRect/>
          </a:stretch>
        </p:blipFill>
        <p:spPr>
          <a:xfrm>
            <a:off x="290750" y="204311"/>
            <a:ext cx="1163002" cy="424338"/>
          </a:xfrm>
          <a:prstGeom prst="rect">
            <a:avLst/>
          </a:prstGeom>
        </p:spPr>
      </p:pic>
      <p:pic>
        <p:nvPicPr>
          <p:cNvPr id="31" name="Picture 30">
            <a:extLst>
              <a:ext uri="{FF2B5EF4-FFF2-40B4-BE49-F238E27FC236}">
                <a16:creationId xmlns:a16="http://schemas.microsoft.com/office/drawing/2014/main" id="{444CC2E5-17AC-C796-779A-8BEDD772F740}"/>
              </a:ext>
            </a:extLst>
          </p:cNvPr>
          <p:cNvPicPr>
            <a:picLocks noChangeAspect="1"/>
          </p:cNvPicPr>
          <p:nvPr/>
        </p:nvPicPr>
        <p:blipFill>
          <a:blip r:embed="rId4"/>
          <a:stretch>
            <a:fillRect/>
          </a:stretch>
        </p:blipFill>
        <p:spPr>
          <a:xfrm>
            <a:off x="1329898" y="1748790"/>
            <a:ext cx="6484204" cy="30522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System Implementation</a:t>
            </a:r>
            <a:endParaRPr lang="en-US" sz="2000" dirty="0"/>
          </a:p>
        </p:txBody>
      </p:sp>
      <p:sp>
        <p:nvSpPr>
          <p:cNvPr id="8" name="Text 6"/>
          <p:cNvSpPr/>
          <p:nvPr/>
        </p:nvSpPr>
        <p:spPr>
          <a:xfrm>
            <a:off x="548640" y="969264"/>
            <a:ext cx="7315200" cy="292608"/>
          </a:xfrm>
          <a:prstGeom prst="rect">
            <a:avLst/>
          </a:prstGeom>
          <a:noFill/>
          <a:ln/>
        </p:spPr>
        <p:txBody>
          <a:bodyPr wrap="square" rtlCol="0" anchor="ctr"/>
          <a:lstStyle/>
          <a:p>
            <a:pPr marL="0" indent="0">
              <a:buNone/>
            </a:pPr>
            <a:r>
              <a:rPr lang="en-US" sz="1600" b="1" dirty="0">
                <a:solidFill>
                  <a:srgbClr val="1F1F1F"/>
                </a:solidFill>
                <a:latin typeface="Calibri" pitchFamily="34" charset="0"/>
                <a:ea typeface="Calibri" pitchFamily="34" charset="-122"/>
                <a:cs typeface="Calibri" pitchFamily="34" charset="-120"/>
              </a:rPr>
              <a:t>Student Dashboard:</a:t>
            </a:r>
            <a:endParaRPr lang="en-US" sz="1600" dirty="0"/>
          </a:p>
        </p:txBody>
      </p:sp>
      <p:sp>
        <p:nvSpPr>
          <p:cNvPr id="9" name="Text 7"/>
          <p:cNvSpPr/>
          <p:nvPr/>
        </p:nvSpPr>
        <p:spPr>
          <a:xfrm>
            <a:off x="548640" y="1280160"/>
            <a:ext cx="8046720" cy="384048"/>
          </a:xfrm>
          <a:prstGeom prst="rect">
            <a:avLst/>
          </a:prstGeom>
          <a:noFill/>
          <a:ln/>
        </p:spPr>
        <p:txBody>
          <a:bodyPr wrap="square" rtlCol="0" anchor="ctr"/>
          <a:lstStyle/>
          <a:p>
            <a:pPr marL="0" indent="0">
              <a:buNone/>
            </a:pPr>
            <a:r>
              <a:rPr lang="en-US" sz="1450" dirty="0">
                <a:solidFill>
                  <a:srgbClr val="1F1F1F"/>
                </a:solidFill>
                <a:latin typeface="Calibri" pitchFamily="34" charset="0"/>
                <a:ea typeface="Calibri" pitchFamily="34" charset="-122"/>
                <a:cs typeface="Calibri" pitchFamily="34" charset="-120"/>
              </a:rPr>
              <a:t>This window enables the student to view project details, submit daily status, complete tasks, and track attendance and review history.</a:t>
            </a:r>
            <a:endParaRPr lang="en-US" sz="1450" dirty="0"/>
          </a:p>
        </p:txBody>
      </p:sp>
      <p:pic>
        <p:nvPicPr>
          <p:cNvPr id="25" name="object 3">
            <a:extLst>
              <a:ext uri="{FF2B5EF4-FFF2-40B4-BE49-F238E27FC236}">
                <a16:creationId xmlns:a16="http://schemas.microsoft.com/office/drawing/2014/main" id="{458A4CEA-FB36-5FCB-9EFA-5927B3287F72}"/>
              </a:ext>
            </a:extLst>
          </p:cNvPr>
          <p:cNvPicPr>
            <a:picLocks/>
          </p:cNvPicPr>
          <p:nvPr/>
        </p:nvPicPr>
        <p:blipFill>
          <a:blip r:embed="rId3" cstate="print"/>
          <a:stretch>
            <a:fillRect/>
          </a:stretch>
        </p:blipFill>
        <p:spPr>
          <a:xfrm>
            <a:off x="290750" y="204311"/>
            <a:ext cx="1163002" cy="424338"/>
          </a:xfrm>
          <a:prstGeom prst="rect">
            <a:avLst/>
          </a:prstGeom>
        </p:spPr>
      </p:pic>
      <p:pic>
        <p:nvPicPr>
          <p:cNvPr id="27" name="Picture 26">
            <a:extLst>
              <a:ext uri="{FF2B5EF4-FFF2-40B4-BE49-F238E27FC236}">
                <a16:creationId xmlns:a16="http://schemas.microsoft.com/office/drawing/2014/main" id="{CD01E766-4E55-6F56-45A3-2CA86C565915}"/>
              </a:ext>
            </a:extLst>
          </p:cNvPr>
          <p:cNvPicPr>
            <a:picLocks noChangeAspect="1"/>
          </p:cNvPicPr>
          <p:nvPr/>
        </p:nvPicPr>
        <p:blipFill>
          <a:blip r:embed="rId4"/>
          <a:stretch>
            <a:fillRect/>
          </a:stretch>
        </p:blipFill>
        <p:spPr>
          <a:xfrm>
            <a:off x="1544683" y="1823865"/>
            <a:ext cx="6054634" cy="30541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System Implementation</a:t>
            </a:r>
            <a:endParaRPr lang="en-US" sz="2000" dirty="0"/>
          </a:p>
        </p:txBody>
      </p:sp>
      <p:sp>
        <p:nvSpPr>
          <p:cNvPr id="8" name="Text 6"/>
          <p:cNvSpPr/>
          <p:nvPr/>
        </p:nvSpPr>
        <p:spPr>
          <a:xfrm>
            <a:off x="548640" y="969264"/>
            <a:ext cx="7315200" cy="292608"/>
          </a:xfrm>
          <a:prstGeom prst="rect">
            <a:avLst/>
          </a:prstGeom>
          <a:noFill/>
          <a:ln/>
        </p:spPr>
        <p:txBody>
          <a:bodyPr wrap="square" rtlCol="0" anchor="ctr"/>
          <a:lstStyle/>
          <a:p>
            <a:pPr marL="0" indent="0">
              <a:buNone/>
            </a:pPr>
            <a:r>
              <a:rPr lang="en-US" sz="1600" b="1" dirty="0">
                <a:solidFill>
                  <a:srgbClr val="1F1F1F"/>
                </a:solidFill>
                <a:latin typeface="Calibri" pitchFamily="34" charset="0"/>
                <a:ea typeface="Calibri" pitchFamily="34" charset="-122"/>
                <a:cs typeface="Calibri" pitchFamily="34" charset="-120"/>
              </a:rPr>
              <a:t>Faculty Dashboard:</a:t>
            </a:r>
            <a:endParaRPr lang="en-US" sz="1600" dirty="0"/>
          </a:p>
        </p:txBody>
      </p:sp>
      <p:sp>
        <p:nvSpPr>
          <p:cNvPr id="9" name="Text 7"/>
          <p:cNvSpPr/>
          <p:nvPr/>
        </p:nvSpPr>
        <p:spPr>
          <a:xfrm>
            <a:off x="548640" y="1280160"/>
            <a:ext cx="8046720" cy="329184"/>
          </a:xfrm>
          <a:prstGeom prst="rect">
            <a:avLst/>
          </a:prstGeom>
          <a:noFill/>
          <a:ln/>
        </p:spPr>
        <p:txBody>
          <a:bodyPr wrap="square" rtlCol="0" anchor="ctr"/>
          <a:lstStyle/>
          <a:p>
            <a:pPr marL="0" indent="0">
              <a:buNone/>
            </a:pPr>
            <a:r>
              <a:rPr lang="en-US" sz="1450" dirty="0">
                <a:solidFill>
                  <a:srgbClr val="1F1F1F"/>
                </a:solidFill>
                <a:latin typeface="Calibri" pitchFamily="34" charset="0"/>
                <a:ea typeface="Calibri" pitchFamily="34" charset="-122"/>
                <a:cs typeface="Calibri" pitchFamily="34" charset="-120"/>
              </a:rPr>
              <a:t>This window allows the faculty to apply projects as Guide or Co-guide.</a:t>
            </a:r>
            <a:endParaRPr lang="en-US" sz="1450" dirty="0"/>
          </a:p>
        </p:txBody>
      </p:sp>
      <p:pic>
        <p:nvPicPr>
          <p:cNvPr id="35" name="object 3">
            <a:extLst>
              <a:ext uri="{FF2B5EF4-FFF2-40B4-BE49-F238E27FC236}">
                <a16:creationId xmlns:a16="http://schemas.microsoft.com/office/drawing/2014/main" id="{2E01F5EB-591C-BAB9-9180-5823CA2709AD}"/>
              </a:ext>
            </a:extLst>
          </p:cNvPr>
          <p:cNvPicPr>
            <a:picLocks/>
          </p:cNvPicPr>
          <p:nvPr/>
        </p:nvPicPr>
        <p:blipFill>
          <a:blip r:embed="rId3" cstate="print"/>
          <a:stretch>
            <a:fillRect/>
          </a:stretch>
        </p:blipFill>
        <p:spPr>
          <a:xfrm>
            <a:off x="290750" y="204311"/>
            <a:ext cx="1163002" cy="424338"/>
          </a:xfrm>
          <a:prstGeom prst="rect">
            <a:avLst/>
          </a:prstGeom>
        </p:spPr>
      </p:pic>
      <p:pic>
        <p:nvPicPr>
          <p:cNvPr id="37" name="Picture 36">
            <a:extLst>
              <a:ext uri="{FF2B5EF4-FFF2-40B4-BE49-F238E27FC236}">
                <a16:creationId xmlns:a16="http://schemas.microsoft.com/office/drawing/2014/main" id="{5DD8ADB7-ED91-13C6-7308-E73447E2219B}"/>
              </a:ext>
            </a:extLst>
          </p:cNvPr>
          <p:cNvPicPr>
            <a:picLocks noChangeAspect="1"/>
          </p:cNvPicPr>
          <p:nvPr/>
        </p:nvPicPr>
        <p:blipFill>
          <a:blip r:embed="rId4"/>
          <a:stretch>
            <a:fillRect/>
          </a:stretch>
        </p:blipFill>
        <p:spPr>
          <a:xfrm>
            <a:off x="1511209" y="1785974"/>
            <a:ext cx="6121581" cy="30847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Future Enhancements</a:t>
            </a:r>
            <a:endParaRPr lang="en-US" sz="2000" dirty="0"/>
          </a:p>
        </p:txBody>
      </p:sp>
      <p:sp>
        <p:nvSpPr>
          <p:cNvPr id="8" name="Text 6"/>
          <p:cNvSpPr/>
          <p:nvPr/>
        </p:nvSpPr>
        <p:spPr>
          <a:xfrm>
            <a:off x="548640" y="969264"/>
            <a:ext cx="8046720" cy="749808"/>
          </a:xfrm>
          <a:prstGeom prst="rect">
            <a:avLst/>
          </a:prstGeom>
          <a:noFill/>
          <a:ln/>
        </p:spPr>
        <p:txBody>
          <a:bodyPr wrap="square" rtlCol="0" anchor="ctr"/>
          <a:lstStyle/>
          <a:p>
            <a:pPr marL="0" indent="0">
              <a:buNone/>
            </a:pPr>
            <a:r>
              <a:rPr lang="en-US" sz="1450" dirty="0">
                <a:solidFill>
                  <a:srgbClr val="1F1F1F"/>
                </a:solidFill>
                <a:latin typeface="Calibri" pitchFamily="34" charset="0"/>
                <a:ea typeface="Calibri" pitchFamily="34" charset="-122"/>
                <a:cs typeface="Calibri" pitchFamily="34" charset="-120"/>
              </a:rPr>
              <a:t>The In-House Internship Management System developed in this project provides core functionalities for managing the internship lifecycle. However, the system can be further enhanced by adding advanced features to improve its functionality and usability. Some possible future enhancements include:</a:t>
            </a:r>
            <a:endParaRPr lang="en-US" sz="1450" dirty="0"/>
          </a:p>
        </p:txBody>
      </p:sp>
      <p:sp>
        <p:nvSpPr>
          <p:cNvPr id="9" name="Text 7"/>
          <p:cNvSpPr/>
          <p:nvPr/>
        </p:nvSpPr>
        <p:spPr>
          <a:xfrm>
            <a:off x="548640" y="1828800"/>
            <a:ext cx="8046720" cy="402336"/>
          </a:xfrm>
          <a:prstGeom prst="rect">
            <a:avLst/>
          </a:prstGeom>
          <a:noFill/>
          <a:ln/>
        </p:spPr>
        <p:txBody>
          <a:bodyPr wrap="square" rtlCol="0" anchor="ctr"/>
          <a:lstStyle/>
          <a:p>
            <a:pPr marL="342900" indent="-342900">
              <a:buSzPct val="100000"/>
              <a:buChar char="•"/>
            </a:pPr>
            <a:r>
              <a:rPr lang="en-US" sz="1500" b="1" dirty="0">
                <a:solidFill>
                  <a:srgbClr val="1F1F1F"/>
                </a:solidFill>
                <a:latin typeface="Calibri" pitchFamily="34" charset="0"/>
                <a:ea typeface="Calibri" pitchFamily="34" charset="-122"/>
                <a:cs typeface="Calibri" pitchFamily="34" charset="-120"/>
              </a:rPr>
              <a:t>Mobile Application: </a:t>
            </a:r>
            <a:r>
              <a:rPr lang="en-US" sz="1500" dirty="0">
                <a:solidFill>
                  <a:srgbClr val="1F1F1F"/>
                </a:solidFill>
                <a:latin typeface="Calibri" pitchFamily="34" charset="0"/>
                <a:ea typeface="Calibri" pitchFamily="34" charset="-122"/>
                <a:cs typeface="Calibri" pitchFamily="34" charset="-120"/>
              </a:rPr>
              <a:t>Developing a React Native mobile app for students and faculty to access dashboards and submit updates on the go.</a:t>
            </a:r>
            <a:endParaRPr lang="en-US" sz="1500" dirty="0"/>
          </a:p>
        </p:txBody>
      </p:sp>
      <p:sp>
        <p:nvSpPr>
          <p:cNvPr id="10" name="Text 8"/>
          <p:cNvSpPr/>
          <p:nvPr/>
        </p:nvSpPr>
        <p:spPr>
          <a:xfrm>
            <a:off x="548640" y="2359152"/>
            <a:ext cx="8046720" cy="402336"/>
          </a:xfrm>
          <a:prstGeom prst="rect">
            <a:avLst/>
          </a:prstGeom>
          <a:noFill/>
          <a:ln/>
        </p:spPr>
        <p:txBody>
          <a:bodyPr wrap="square" rtlCol="0" anchor="ctr"/>
          <a:lstStyle/>
          <a:p>
            <a:pPr marL="342900" indent="-342900">
              <a:buSzPct val="100000"/>
              <a:buChar char="•"/>
            </a:pPr>
            <a:r>
              <a:rPr lang="en-US" sz="1500" b="1" dirty="0">
                <a:solidFill>
                  <a:srgbClr val="1F1F1F"/>
                </a:solidFill>
                <a:latin typeface="Calibri" pitchFamily="34" charset="0"/>
                <a:ea typeface="Calibri" pitchFamily="34" charset="-122"/>
                <a:cs typeface="Calibri" pitchFamily="34" charset="-120"/>
              </a:rPr>
              <a:t>AI-Based Project Matching: </a:t>
            </a:r>
            <a:r>
              <a:rPr lang="en-US" sz="1500" dirty="0">
                <a:solidFill>
                  <a:srgbClr val="1F1F1F"/>
                </a:solidFill>
                <a:latin typeface="Calibri" pitchFamily="34" charset="0"/>
                <a:ea typeface="Calibri" pitchFamily="34" charset="-122"/>
                <a:cs typeface="Calibri" pitchFamily="34" charset="-120"/>
              </a:rPr>
              <a:t>An intelligent recommendation engine to match students to projects based on skills, academic performance, and interests.</a:t>
            </a:r>
            <a:endParaRPr lang="en-US" sz="1500" dirty="0"/>
          </a:p>
        </p:txBody>
      </p:sp>
      <p:sp>
        <p:nvSpPr>
          <p:cNvPr id="11" name="Text 9"/>
          <p:cNvSpPr/>
          <p:nvPr/>
        </p:nvSpPr>
        <p:spPr>
          <a:xfrm>
            <a:off x="548640" y="2889504"/>
            <a:ext cx="8046720" cy="402336"/>
          </a:xfrm>
          <a:prstGeom prst="rect">
            <a:avLst/>
          </a:prstGeom>
          <a:noFill/>
          <a:ln/>
        </p:spPr>
        <p:txBody>
          <a:bodyPr wrap="square" rtlCol="0" anchor="ctr"/>
          <a:lstStyle/>
          <a:p>
            <a:pPr marL="342900" indent="-342900">
              <a:buSzPct val="100000"/>
              <a:buChar char="•"/>
            </a:pPr>
            <a:r>
              <a:rPr lang="en-US" sz="1500" b="1" dirty="0">
                <a:solidFill>
                  <a:srgbClr val="1F1F1F"/>
                </a:solidFill>
                <a:latin typeface="Calibri" pitchFamily="34" charset="0"/>
                <a:ea typeface="Calibri" pitchFamily="34" charset="-122"/>
                <a:cs typeface="Calibri" pitchFamily="34" charset="-120"/>
              </a:rPr>
              <a:t>Certificate Generation: </a:t>
            </a:r>
            <a:r>
              <a:rPr lang="en-US" sz="1500" dirty="0">
                <a:solidFill>
                  <a:srgbClr val="1F1F1F"/>
                </a:solidFill>
                <a:latin typeface="Calibri" pitchFamily="34" charset="0"/>
                <a:ea typeface="Calibri" pitchFamily="34" charset="-122"/>
                <a:cs typeface="Calibri" pitchFamily="34" charset="-120"/>
              </a:rPr>
              <a:t>Automated internship completion certificates with QR-code-based verification upon successful program completion.</a:t>
            </a:r>
            <a:endParaRPr lang="en-US" sz="1500" dirty="0"/>
          </a:p>
        </p:txBody>
      </p:sp>
      <p:sp>
        <p:nvSpPr>
          <p:cNvPr id="12" name="Text 10"/>
          <p:cNvSpPr/>
          <p:nvPr/>
        </p:nvSpPr>
        <p:spPr>
          <a:xfrm>
            <a:off x="548640" y="3419856"/>
            <a:ext cx="8046720" cy="402336"/>
          </a:xfrm>
          <a:prstGeom prst="rect">
            <a:avLst/>
          </a:prstGeom>
          <a:noFill/>
          <a:ln/>
        </p:spPr>
        <p:txBody>
          <a:bodyPr wrap="square" rtlCol="0" anchor="ctr"/>
          <a:lstStyle/>
          <a:p>
            <a:pPr marL="342900" indent="-342900">
              <a:buSzPct val="100000"/>
              <a:buChar char="•"/>
            </a:pPr>
            <a:r>
              <a:rPr lang="en-US" sz="1500" b="1" dirty="0">
                <a:solidFill>
                  <a:srgbClr val="1F1F1F"/>
                </a:solidFill>
                <a:latin typeface="Calibri" pitchFamily="34" charset="0"/>
                <a:ea typeface="Calibri" pitchFamily="34" charset="-122"/>
                <a:cs typeface="Calibri" pitchFamily="34" charset="-120"/>
              </a:rPr>
              <a:t>Video Review Integration: </a:t>
            </a:r>
            <a:r>
              <a:rPr lang="en-US" sz="1500" dirty="0">
                <a:solidFill>
                  <a:srgbClr val="1F1F1F"/>
                </a:solidFill>
                <a:latin typeface="Calibri" pitchFamily="34" charset="0"/>
                <a:ea typeface="Calibri" pitchFamily="34" charset="-122"/>
                <a:cs typeface="Calibri" pitchFamily="34" charset="-120"/>
              </a:rPr>
              <a:t>Embedding video conferencing (Jitsi / Google Meet) for remote internship reviews with auto-recorded session logs.</a:t>
            </a:r>
            <a:endParaRPr lang="en-US" sz="1500" dirty="0"/>
          </a:p>
        </p:txBody>
      </p:sp>
      <p:sp>
        <p:nvSpPr>
          <p:cNvPr id="13" name="Text 11"/>
          <p:cNvSpPr/>
          <p:nvPr/>
        </p:nvSpPr>
        <p:spPr>
          <a:xfrm>
            <a:off x="548640" y="3950208"/>
            <a:ext cx="8046720" cy="402336"/>
          </a:xfrm>
          <a:prstGeom prst="rect">
            <a:avLst/>
          </a:prstGeom>
          <a:noFill/>
          <a:ln/>
        </p:spPr>
        <p:txBody>
          <a:bodyPr wrap="square" rtlCol="0" anchor="ctr"/>
          <a:lstStyle/>
          <a:p>
            <a:pPr marL="342900" indent="-342900">
              <a:buSzPct val="100000"/>
              <a:buChar char="•"/>
            </a:pPr>
            <a:r>
              <a:rPr lang="en-US" sz="1500" b="1" dirty="0">
                <a:solidFill>
                  <a:srgbClr val="1F1F1F"/>
                </a:solidFill>
                <a:latin typeface="Calibri" pitchFamily="34" charset="0"/>
                <a:ea typeface="Calibri" pitchFamily="34" charset="-122"/>
                <a:cs typeface="Calibri" pitchFamily="34" charset="-120"/>
              </a:rPr>
              <a:t>Payroll / Stipend Management: </a:t>
            </a:r>
            <a:r>
              <a:rPr lang="en-US" sz="1500" dirty="0">
                <a:solidFill>
                  <a:srgbClr val="1F1F1F"/>
                </a:solidFill>
                <a:latin typeface="Calibri" pitchFamily="34" charset="0"/>
                <a:ea typeface="Calibri" pitchFamily="34" charset="-122"/>
                <a:cs typeface="Calibri" pitchFamily="34" charset="-120"/>
              </a:rPr>
              <a:t>Adding stipend calculation, payslip generation, and tax management features for paid internship programs.</a:t>
            </a:r>
            <a:endParaRPr lang="en-US" sz="1500" dirty="0"/>
          </a:p>
        </p:txBody>
      </p:sp>
      <p:pic>
        <p:nvPicPr>
          <p:cNvPr id="14" name="object 3">
            <a:extLst>
              <a:ext uri="{FF2B5EF4-FFF2-40B4-BE49-F238E27FC236}">
                <a16:creationId xmlns:a16="http://schemas.microsoft.com/office/drawing/2014/main" id="{F6322C87-2CC0-0685-CFB0-A89C929553A7}"/>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References</a:t>
            </a:r>
            <a:endParaRPr lang="en-US" sz="2000" dirty="0"/>
          </a:p>
        </p:txBody>
      </p:sp>
      <p:sp>
        <p:nvSpPr>
          <p:cNvPr id="8" name="Text 6"/>
          <p:cNvSpPr/>
          <p:nvPr/>
        </p:nvSpPr>
        <p:spPr>
          <a:xfrm>
            <a:off x="548640" y="969264"/>
            <a:ext cx="8046720" cy="402336"/>
          </a:xfrm>
          <a:prstGeom prst="rect">
            <a:avLst/>
          </a:prstGeom>
          <a:noFill/>
          <a:ln/>
        </p:spPr>
        <p:txBody>
          <a:bodyPr wrap="square" rtlCol="0" anchor="ctr"/>
          <a:lstStyle/>
          <a:p>
            <a:pPr marL="0" indent="0">
              <a:buNone/>
            </a:pPr>
            <a:r>
              <a:rPr lang="en-US" sz="1450" dirty="0">
                <a:solidFill>
                  <a:srgbClr val="1F1F1F"/>
                </a:solidFill>
                <a:latin typeface="Calibri" pitchFamily="34" charset="0"/>
                <a:ea typeface="Calibri" pitchFamily="34" charset="-122"/>
                <a:cs typeface="Calibri" pitchFamily="34" charset="-120"/>
              </a:rPr>
              <a:t>The following references were used during the development of the In-House Internship Management System:</a:t>
            </a:r>
            <a:endParaRPr lang="en-US" sz="1450" dirty="0"/>
          </a:p>
        </p:txBody>
      </p:sp>
      <p:sp>
        <p:nvSpPr>
          <p:cNvPr id="9" name="Text 7"/>
          <p:cNvSpPr/>
          <p:nvPr/>
        </p:nvSpPr>
        <p:spPr>
          <a:xfrm>
            <a:off x="548640" y="1463040"/>
            <a:ext cx="8046720" cy="329184"/>
          </a:xfrm>
          <a:prstGeom prst="rect">
            <a:avLst/>
          </a:prstGeom>
          <a:noFill/>
          <a:ln/>
        </p:spPr>
        <p:txBody>
          <a:bodyPr wrap="square" rtlCol="0" anchor="ctr"/>
          <a:lstStyle/>
          <a:p>
            <a:pPr marL="342900" indent="-342900">
              <a:buSzPct val="100000"/>
              <a:buChar char="•"/>
            </a:pPr>
            <a:r>
              <a:rPr lang="en-US" sz="1400" b="1" dirty="0">
                <a:solidFill>
                  <a:srgbClr val="1F1F1F"/>
                </a:solidFill>
                <a:latin typeface="Calibri" pitchFamily="34" charset="0"/>
                <a:ea typeface="Calibri" pitchFamily="34" charset="-122"/>
                <a:cs typeface="Calibri" pitchFamily="34" charset="-120"/>
              </a:rPr>
              <a:t>MongoDB Documentation</a:t>
            </a:r>
            <a:r>
              <a:rPr lang="en-US" sz="1400" dirty="0">
                <a:solidFill>
                  <a:srgbClr val="1F1F1F"/>
                </a:solidFill>
                <a:latin typeface="Calibri" pitchFamily="34" charset="0"/>
                <a:ea typeface="Calibri" pitchFamily="34" charset="-122"/>
                <a:cs typeface="Calibri" pitchFamily="34" charset="-120"/>
              </a:rPr>
              <a:t> – Official Mongoose ODM &amp; MongoDB Atlas Guides. https://www.mongodb.com/docs</a:t>
            </a:r>
            <a:endParaRPr lang="en-US" sz="1400" dirty="0"/>
          </a:p>
        </p:txBody>
      </p:sp>
      <p:sp>
        <p:nvSpPr>
          <p:cNvPr id="10" name="Text 8"/>
          <p:cNvSpPr/>
          <p:nvPr/>
        </p:nvSpPr>
        <p:spPr>
          <a:xfrm>
            <a:off x="548640" y="1865376"/>
            <a:ext cx="8046720" cy="329184"/>
          </a:xfrm>
          <a:prstGeom prst="rect">
            <a:avLst/>
          </a:prstGeom>
          <a:noFill/>
          <a:ln/>
        </p:spPr>
        <p:txBody>
          <a:bodyPr wrap="square" rtlCol="0" anchor="ctr"/>
          <a:lstStyle/>
          <a:p>
            <a:pPr marL="342900" indent="-342900">
              <a:buSzPct val="100000"/>
              <a:buChar char="•"/>
            </a:pPr>
            <a:r>
              <a:rPr lang="en-US" sz="1400" b="1" dirty="0">
                <a:solidFill>
                  <a:srgbClr val="1F1F1F"/>
                </a:solidFill>
                <a:latin typeface="Calibri" pitchFamily="34" charset="0"/>
                <a:ea typeface="Calibri" pitchFamily="34" charset="-122"/>
                <a:cs typeface="Calibri" pitchFamily="34" charset="-120"/>
              </a:rPr>
              <a:t>React Documentation</a:t>
            </a:r>
            <a:r>
              <a:rPr lang="en-US" sz="1400" dirty="0">
                <a:solidFill>
                  <a:srgbClr val="1F1F1F"/>
                </a:solidFill>
                <a:latin typeface="Calibri" pitchFamily="34" charset="0"/>
                <a:ea typeface="Calibri" pitchFamily="34" charset="-122"/>
                <a:cs typeface="Calibri" pitchFamily="34" charset="-120"/>
              </a:rPr>
              <a:t> – React 18 Official Docs, Hooks &amp; Router. https://react.dev</a:t>
            </a:r>
            <a:endParaRPr lang="en-US" sz="1400" dirty="0"/>
          </a:p>
        </p:txBody>
      </p:sp>
      <p:sp>
        <p:nvSpPr>
          <p:cNvPr id="11" name="Text 9"/>
          <p:cNvSpPr/>
          <p:nvPr/>
        </p:nvSpPr>
        <p:spPr>
          <a:xfrm>
            <a:off x="548640" y="2267712"/>
            <a:ext cx="8046720" cy="329184"/>
          </a:xfrm>
          <a:prstGeom prst="rect">
            <a:avLst/>
          </a:prstGeom>
          <a:noFill/>
          <a:ln/>
        </p:spPr>
        <p:txBody>
          <a:bodyPr wrap="square" rtlCol="0" anchor="ctr"/>
          <a:lstStyle/>
          <a:p>
            <a:pPr marL="342900" indent="-342900">
              <a:buSzPct val="100000"/>
              <a:buChar char="•"/>
            </a:pPr>
            <a:r>
              <a:rPr lang="en-US" sz="1400" b="1" dirty="0">
                <a:solidFill>
                  <a:srgbClr val="1F1F1F"/>
                </a:solidFill>
                <a:latin typeface="Calibri" pitchFamily="34" charset="0"/>
                <a:ea typeface="Calibri" pitchFamily="34" charset="-122"/>
                <a:cs typeface="Calibri" pitchFamily="34" charset="-120"/>
              </a:rPr>
              <a:t>Express.js Guide</a:t>
            </a:r>
            <a:r>
              <a:rPr lang="en-US" sz="1400" dirty="0">
                <a:solidFill>
                  <a:srgbClr val="1F1F1F"/>
                </a:solidFill>
                <a:latin typeface="Calibri" pitchFamily="34" charset="0"/>
                <a:ea typeface="Calibri" pitchFamily="34" charset="-122"/>
                <a:cs typeface="Calibri" pitchFamily="34" charset="-120"/>
              </a:rPr>
              <a:t> – Node.js/Express REST API best practices. https://expressjs.com</a:t>
            </a:r>
            <a:endParaRPr lang="en-US" sz="1400" dirty="0"/>
          </a:p>
        </p:txBody>
      </p:sp>
      <p:sp>
        <p:nvSpPr>
          <p:cNvPr id="12" name="Text 10"/>
          <p:cNvSpPr/>
          <p:nvPr/>
        </p:nvSpPr>
        <p:spPr>
          <a:xfrm>
            <a:off x="548640" y="2670048"/>
            <a:ext cx="8046720" cy="329184"/>
          </a:xfrm>
          <a:prstGeom prst="rect">
            <a:avLst/>
          </a:prstGeom>
          <a:noFill/>
          <a:ln/>
        </p:spPr>
        <p:txBody>
          <a:bodyPr wrap="square" rtlCol="0" anchor="ctr"/>
          <a:lstStyle/>
          <a:p>
            <a:pPr marL="342900" indent="-342900">
              <a:buSzPct val="100000"/>
              <a:buChar char="•"/>
            </a:pPr>
            <a:r>
              <a:rPr lang="en-US" sz="1400" b="1" dirty="0">
                <a:solidFill>
                  <a:srgbClr val="1F1F1F"/>
                </a:solidFill>
                <a:latin typeface="Calibri" pitchFamily="34" charset="0"/>
                <a:ea typeface="Calibri" pitchFamily="34" charset="-122"/>
                <a:cs typeface="Calibri" pitchFamily="34" charset="-120"/>
              </a:rPr>
              <a:t>Docker Documentation</a:t>
            </a:r>
            <a:r>
              <a:rPr lang="en-US" sz="1400" dirty="0">
                <a:solidFill>
                  <a:srgbClr val="1F1F1F"/>
                </a:solidFill>
                <a:latin typeface="Calibri" pitchFamily="34" charset="0"/>
                <a:ea typeface="Calibri" pitchFamily="34" charset="-122"/>
                <a:cs typeface="Calibri" pitchFamily="34" charset="-120"/>
              </a:rPr>
              <a:t> – Docker Compose, Dockerfile &amp; Networking. https://docs.docker.com</a:t>
            </a:r>
            <a:endParaRPr lang="en-US" sz="1400" dirty="0"/>
          </a:p>
        </p:txBody>
      </p:sp>
      <p:sp>
        <p:nvSpPr>
          <p:cNvPr id="13" name="Text 11"/>
          <p:cNvSpPr/>
          <p:nvPr/>
        </p:nvSpPr>
        <p:spPr>
          <a:xfrm>
            <a:off x="548640" y="3072384"/>
            <a:ext cx="8046720" cy="329184"/>
          </a:xfrm>
          <a:prstGeom prst="rect">
            <a:avLst/>
          </a:prstGeom>
          <a:noFill/>
          <a:ln/>
        </p:spPr>
        <p:txBody>
          <a:bodyPr wrap="square" rtlCol="0" anchor="ctr"/>
          <a:lstStyle/>
          <a:p>
            <a:pPr marL="342900" indent="-342900">
              <a:buSzPct val="100000"/>
              <a:buChar char="•"/>
            </a:pPr>
            <a:r>
              <a:rPr lang="en-US" sz="1400" b="1" dirty="0">
                <a:solidFill>
                  <a:srgbClr val="1F1F1F"/>
                </a:solidFill>
                <a:latin typeface="Calibri" pitchFamily="34" charset="0"/>
                <a:ea typeface="Calibri" pitchFamily="34" charset="-122"/>
                <a:cs typeface="Calibri" pitchFamily="34" charset="-120"/>
              </a:rPr>
              <a:t>JWT Reference</a:t>
            </a:r>
            <a:r>
              <a:rPr lang="en-US" sz="1400" dirty="0">
                <a:solidFill>
                  <a:srgbClr val="1F1F1F"/>
                </a:solidFill>
                <a:latin typeface="Calibri" pitchFamily="34" charset="0"/>
                <a:ea typeface="Calibri" pitchFamily="34" charset="-122"/>
                <a:cs typeface="Calibri" pitchFamily="34" charset="-120"/>
              </a:rPr>
              <a:t> – JSON Web Tokens introduction and Node.js usage. https://jwt.io</a:t>
            </a:r>
            <a:endParaRPr lang="en-US" sz="1400" dirty="0"/>
          </a:p>
        </p:txBody>
      </p:sp>
      <p:sp>
        <p:nvSpPr>
          <p:cNvPr id="14" name="Text 12"/>
          <p:cNvSpPr/>
          <p:nvPr/>
        </p:nvSpPr>
        <p:spPr>
          <a:xfrm>
            <a:off x="548640" y="3474720"/>
            <a:ext cx="8046720" cy="329184"/>
          </a:xfrm>
          <a:prstGeom prst="rect">
            <a:avLst/>
          </a:prstGeom>
          <a:noFill/>
          <a:ln/>
        </p:spPr>
        <p:txBody>
          <a:bodyPr wrap="square" rtlCol="0" anchor="ctr"/>
          <a:lstStyle/>
          <a:p>
            <a:pPr marL="342900" indent="-342900">
              <a:buSzPct val="100000"/>
              <a:buChar char="•"/>
            </a:pPr>
            <a:r>
              <a:rPr lang="en-US" sz="1400" b="1" dirty="0">
                <a:solidFill>
                  <a:srgbClr val="1F1F1F"/>
                </a:solidFill>
                <a:latin typeface="Calibri" pitchFamily="34" charset="0"/>
                <a:ea typeface="Calibri" pitchFamily="34" charset="-122"/>
                <a:cs typeface="Calibri" pitchFamily="34" charset="-120"/>
              </a:rPr>
              <a:t>Nodemailer</a:t>
            </a:r>
            <a:r>
              <a:rPr lang="en-US" sz="1400" dirty="0">
                <a:solidFill>
                  <a:srgbClr val="1F1F1F"/>
                </a:solidFill>
                <a:latin typeface="Calibri" pitchFamily="34" charset="0"/>
                <a:ea typeface="Calibri" pitchFamily="34" charset="-122"/>
                <a:cs typeface="Calibri" pitchFamily="34" charset="-120"/>
              </a:rPr>
              <a:t> – Node.js email-sending library. https://nodemailer.com</a:t>
            </a:r>
            <a:endParaRPr lang="en-US" sz="1400" dirty="0"/>
          </a:p>
        </p:txBody>
      </p:sp>
      <p:sp>
        <p:nvSpPr>
          <p:cNvPr id="15" name="Text 13"/>
          <p:cNvSpPr/>
          <p:nvPr/>
        </p:nvSpPr>
        <p:spPr>
          <a:xfrm>
            <a:off x="548640" y="3877056"/>
            <a:ext cx="8046720" cy="329184"/>
          </a:xfrm>
          <a:prstGeom prst="rect">
            <a:avLst/>
          </a:prstGeom>
          <a:noFill/>
          <a:ln/>
        </p:spPr>
        <p:txBody>
          <a:bodyPr wrap="square" rtlCol="0" anchor="ctr"/>
          <a:lstStyle/>
          <a:p>
            <a:pPr marL="342900" indent="-342900">
              <a:buSzPct val="100000"/>
              <a:buChar char="•"/>
            </a:pPr>
            <a:r>
              <a:rPr lang="en-US" sz="1400" b="1" dirty="0">
                <a:solidFill>
                  <a:srgbClr val="1F1F1F"/>
                </a:solidFill>
                <a:latin typeface="Calibri" pitchFamily="34" charset="0"/>
                <a:ea typeface="Calibri" pitchFamily="34" charset="-122"/>
                <a:cs typeface="Calibri" pitchFamily="34" charset="-120"/>
              </a:rPr>
              <a:t>MUI (Material UI)</a:t>
            </a:r>
            <a:r>
              <a:rPr lang="en-US" sz="1400" dirty="0">
                <a:solidFill>
                  <a:srgbClr val="1F1F1F"/>
                </a:solidFill>
                <a:latin typeface="Calibri" pitchFamily="34" charset="0"/>
                <a:ea typeface="Calibri" pitchFamily="34" charset="-122"/>
                <a:cs typeface="Calibri" pitchFamily="34" charset="-120"/>
              </a:rPr>
              <a:t> – React component library used in the frontend. https://mui.com</a:t>
            </a:r>
            <a:endParaRPr lang="en-US" sz="1400" dirty="0"/>
          </a:p>
        </p:txBody>
      </p:sp>
      <p:sp>
        <p:nvSpPr>
          <p:cNvPr id="16" name="Text 14"/>
          <p:cNvSpPr/>
          <p:nvPr/>
        </p:nvSpPr>
        <p:spPr>
          <a:xfrm>
            <a:off x="548640" y="4279392"/>
            <a:ext cx="8046720" cy="329184"/>
          </a:xfrm>
          <a:prstGeom prst="rect">
            <a:avLst/>
          </a:prstGeom>
          <a:noFill/>
          <a:ln/>
        </p:spPr>
        <p:txBody>
          <a:bodyPr wrap="square" rtlCol="0" anchor="ctr"/>
          <a:lstStyle/>
          <a:p>
            <a:pPr marL="342900" indent="-342900">
              <a:buSzPct val="100000"/>
              <a:buChar char="•"/>
            </a:pPr>
            <a:r>
              <a:rPr lang="en-US" sz="1400" b="1" dirty="0">
                <a:solidFill>
                  <a:srgbClr val="1F1F1F"/>
                </a:solidFill>
                <a:latin typeface="Calibri" pitchFamily="34" charset="0"/>
                <a:ea typeface="Calibri" pitchFamily="34" charset="-122"/>
                <a:cs typeface="Calibri" pitchFamily="34" charset="-120"/>
              </a:rPr>
              <a:t>Vite Build Tool</a:t>
            </a:r>
            <a:r>
              <a:rPr lang="en-US" sz="1400" dirty="0">
                <a:solidFill>
                  <a:srgbClr val="1F1F1F"/>
                </a:solidFill>
                <a:latin typeface="Calibri" pitchFamily="34" charset="0"/>
                <a:ea typeface="Calibri" pitchFamily="34" charset="-122"/>
                <a:cs typeface="Calibri" pitchFamily="34" charset="-120"/>
              </a:rPr>
              <a:t> – Next-generation frontend tooling. https://vitejs.dev</a:t>
            </a:r>
            <a:endParaRPr lang="en-US" sz="1400" dirty="0"/>
          </a:p>
        </p:txBody>
      </p:sp>
      <p:pic>
        <p:nvPicPr>
          <p:cNvPr id="17" name="object 3">
            <a:extLst>
              <a:ext uri="{FF2B5EF4-FFF2-40B4-BE49-F238E27FC236}">
                <a16:creationId xmlns:a16="http://schemas.microsoft.com/office/drawing/2014/main" id="{28D9746F-6874-D589-6F13-29F4A27D01D3}"/>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2286000" y="438912"/>
            <a:ext cx="4572000" cy="384048"/>
          </a:xfrm>
          <a:prstGeom prst="roundRect">
            <a:avLst>
              <a:gd name="adj" fmla="val 28571"/>
            </a:avLst>
          </a:prstGeom>
          <a:solidFill>
            <a:srgbClr val="E8751A"/>
          </a:solidFill>
          <a:ln w="12700">
            <a:solidFill>
              <a:srgbClr val="E8751A"/>
            </a:solidFill>
            <a:prstDash val="solid"/>
          </a:ln>
        </p:spPr>
        <p:txBody>
          <a:bodyPr/>
          <a:lstStyle/>
          <a:p>
            <a:endParaRPr lang="en-IN"/>
          </a:p>
        </p:txBody>
      </p:sp>
      <p:sp>
        <p:nvSpPr>
          <p:cNvPr id="7" name="Text 5"/>
          <p:cNvSpPr/>
          <p:nvPr/>
        </p:nvSpPr>
        <p:spPr>
          <a:xfrm>
            <a:off x="2286000" y="438912"/>
            <a:ext cx="45720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CONCLUSION</a:t>
            </a:r>
            <a:endParaRPr lang="en-US" sz="2000" dirty="0"/>
          </a:p>
        </p:txBody>
      </p:sp>
      <p:sp>
        <p:nvSpPr>
          <p:cNvPr id="8" name="Text 6"/>
          <p:cNvSpPr/>
          <p:nvPr/>
        </p:nvSpPr>
        <p:spPr>
          <a:xfrm>
            <a:off x="548640" y="987552"/>
            <a:ext cx="8046720" cy="3840480"/>
          </a:xfrm>
          <a:prstGeom prst="rect">
            <a:avLst/>
          </a:prstGeom>
          <a:noFill/>
          <a:ln/>
        </p:spPr>
        <p:txBody>
          <a:bodyPr wrap="square" rtlCol="0" anchor="t"/>
          <a:lstStyle/>
          <a:p>
            <a:pPr marL="342900" indent="-342900">
              <a:spcAft>
                <a:spcPts val="1000"/>
              </a:spcAft>
              <a:buSzPct val="100000"/>
              <a:buChar char="•"/>
            </a:pPr>
            <a:r>
              <a:rPr lang="en-US" sz="1600" dirty="0">
                <a:solidFill>
                  <a:srgbClr val="1F1F1F"/>
                </a:solidFill>
                <a:latin typeface="Calibri" pitchFamily="34" charset="0"/>
                <a:ea typeface="Calibri" pitchFamily="34" charset="-122"/>
                <a:cs typeface="Calibri" pitchFamily="34" charset="-120"/>
              </a:rPr>
              <a:t>The In-House Internship Management System (II2) was successfully developed as a full-stack web application for Aditya University.</a:t>
            </a:r>
            <a:endParaRPr lang="en-US" sz="1600" dirty="0"/>
          </a:p>
          <a:p>
            <a:pPr marL="342900" indent="-342900">
              <a:spcAft>
                <a:spcPts val="1000"/>
              </a:spcAft>
              <a:buSzPct val="100000"/>
              <a:buChar char="•"/>
            </a:pPr>
            <a:r>
              <a:rPr lang="en-US" sz="1600" dirty="0">
                <a:solidFill>
                  <a:srgbClr val="1F1F1F"/>
                </a:solidFill>
                <a:latin typeface="Calibri" pitchFamily="34" charset="0"/>
                <a:ea typeface="Calibri" pitchFamily="34" charset="-122"/>
                <a:cs typeface="Calibri" pitchFamily="34" charset="-120"/>
              </a:rPr>
              <a:t>It replaces fragmented, manual internship management with an efficient, role-aware digital solution.</a:t>
            </a:r>
            <a:endParaRPr lang="en-US" sz="1600" dirty="0"/>
          </a:p>
          <a:p>
            <a:pPr marL="342900" indent="-342900">
              <a:spcAft>
                <a:spcPts val="1000"/>
              </a:spcAft>
              <a:buSzPct val="100000"/>
              <a:buChar char="•"/>
            </a:pPr>
            <a:r>
              <a:rPr lang="en-US" sz="1600" dirty="0">
                <a:solidFill>
                  <a:srgbClr val="1F1F1F"/>
                </a:solidFill>
                <a:latin typeface="Calibri" pitchFamily="34" charset="0"/>
                <a:ea typeface="Calibri" pitchFamily="34" charset="-122"/>
                <a:cs typeface="Calibri" pitchFamily="34" charset="-120"/>
              </a:rPr>
              <a:t>The system provides key functionalities like student onboarding, project allocation, task management, reviews, attendance tracking, and analytics.</a:t>
            </a:r>
            <a:endParaRPr lang="en-US" sz="1600" dirty="0"/>
          </a:p>
          <a:p>
            <a:pPr marL="342900" indent="-342900">
              <a:spcAft>
                <a:spcPts val="1000"/>
              </a:spcAft>
              <a:buSzPct val="100000"/>
              <a:buChar char="•"/>
            </a:pPr>
            <a:r>
              <a:rPr lang="en-US" sz="1600" dirty="0">
                <a:solidFill>
                  <a:srgbClr val="1F1F1F"/>
                </a:solidFill>
                <a:latin typeface="Calibri" pitchFamily="34" charset="0"/>
                <a:ea typeface="Calibri" pitchFamily="34" charset="-122"/>
                <a:cs typeface="Calibri" pitchFamily="34" charset="-120"/>
              </a:rPr>
              <a:t>It ensures data accuracy, security, and easy accessibility through JWT authentication, OTP recovery, and role-based access control.</a:t>
            </a:r>
            <a:endParaRPr lang="en-US" sz="1600" dirty="0"/>
          </a:p>
          <a:p>
            <a:pPr marL="342900" indent="-342900">
              <a:spcAft>
                <a:spcPts val="1000"/>
              </a:spcAft>
              <a:buSzPct val="100000"/>
              <a:buChar char="•"/>
            </a:pPr>
            <a:r>
              <a:rPr lang="en-US" sz="1600" dirty="0">
                <a:solidFill>
                  <a:srgbClr val="1F1F1F"/>
                </a:solidFill>
                <a:latin typeface="Calibri" pitchFamily="34" charset="0"/>
                <a:ea typeface="Calibri" pitchFamily="34" charset="-122"/>
                <a:cs typeface="Calibri" pitchFamily="34" charset="-120"/>
              </a:rPr>
              <a:t>Technologies like React, Node.js, Express, MongoDB, Docker, Nginx, and Jenkins enabled reliable and scalable performance.</a:t>
            </a:r>
            <a:endParaRPr lang="en-US" sz="1600" dirty="0"/>
          </a:p>
          <a:p>
            <a:pPr marL="342900" indent="-342900">
              <a:spcAft>
                <a:spcPts val="1000"/>
              </a:spcAft>
              <a:buSzPct val="100000"/>
              <a:buChar char="•"/>
            </a:pPr>
            <a:r>
              <a:rPr lang="en-US" sz="1600" dirty="0">
                <a:solidFill>
                  <a:srgbClr val="1F1F1F"/>
                </a:solidFill>
                <a:latin typeface="Calibri" pitchFamily="34" charset="0"/>
                <a:ea typeface="Calibri" pitchFamily="34" charset="-122"/>
                <a:cs typeface="Calibri" pitchFamily="34" charset="-120"/>
              </a:rPr>
              <a:t>The system improves institutional transparency, reduces administrative workload, and supports data-driven internship program management.</a:t>
            </a:r>
            <a:endParaRPr lang="en-US" sz="1600" dirty="0"/>
          </a:p>
        </p:txBody>
      </p:sp>
      <p:pic>
        <p:nvPicPr>
          <p:cNvPr id="9" name="object 3">
            <a:extLst>
              <a:ext uri="{FF2B5EF4-FFF2-40B4-BE49-F238E27FC236}">
                <a16:creationId xmlns:a16="http://schemas.microsoft.com/office/drawing/2014/main" id="{6752826E-8768-58F4-D7DF-99FC7C241761}"/>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6" name="Text 4"/>
          <p:cNvSpPr/>
          <p:nvPr/>
        </p:nvSpPr>
        <p:spPr>
          <a:xfrm>
            <a:off x="914400" y="1737360"/>
            <a:ext cx="7315200" cy="1188720"/>
          </a:xfrm>
          <a:prstGeom prst="rect">
            <a:avLst/>
          </a:prstGeom>
          <a:noFill/>
          <a:ln/>
        </p:spPr>
        <p:txBody>
          <a:bodyPr wrap="square" rtlCol="0" anchor="ctr"/>
          <a:lstStyle/>
          <a:p>
            <a:pPr marL="0" indent="0" algn="ctr">
              <a:buNone/>
            </a:pPr>
            <a:r>
              <a:rPr lang="en-US" sz="5400" b="1" dirty="0">
                <a:solidFill>
                  <a:srgbClr val="E8751A"/>
                </a:solidFill>
                <a:latin typeface="Calibri" pitchFamily="34" charset="0"/>
                <a:ea typeface="Calibri" pitchFamily="34" charset="-122"/>
                <a:cs typeface="Calibri" pitchFamily="34" charset="-120"/>
              </a:rPr>
              <a:t>THANK YOU</a:t>
            </a:r>
            <a:endParaRPr lang="en-US" sz="5400" dirty="0"/>
          </a:p>
        </p:txBody>
      </p:sp>
      <p:pic>
        <p:nvPicPr>
          <p:cNvPr id="7" name="object 3">
            <a:extLst>
              <a:ext uri="{FF2B5EF4-FFF2-40B4-BE49-F238E27FC236}">
                <a16:creationId xmlns:a16="http://schemas.microsoft.com/office/drawing/2014/main" id="{536E8F79-AC4D-0486-6EF5-1EE129D55545}"/>
              </a:ext>
            </a:extLst>
          </p:cNvPr>
          <p:cNvPicPr>
            <a:picLocks/>
          </p:cNvPicPr>
          <p:nvPr/>
        </p:nvPicPr>
        <p:blipFill>
          <a:blip r:embed="rId3" cstate="print"/>
          <a:stretch>
            <a:fillRect/>
          </a:stretch>
        </p:blipFill>
        <p:spPr>
          <a:xfrm>
            <a:off x="290750" y="204311"/>
            <a:ext cx="1163002" cy="4243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1677</Words>
  <Application>Microsoft Office PowerPoint</Application>
  <PresentationFormat>On-screen Show (16:9)</PresentationFormat>
  <Paragraphs>249</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tallaraj5@outlook.com</cp:lastModifiedBy>
  <cp:revision>2</cp:revision>
  <dcterms:created xsi:type="dcterms:W3CDTF">2026-04-06T10:16:13Z</dcterms:created>
  <dcterms:modified xsi:type="dcterms:W3CDTF">2026-04-06T15:38:37Z</dcterms:modified>
</cp:coreProperties>
</file>